
<file path=[Content_Types].xml><?xml version="1.0" encoding="utf-8"?>
<Types xmlns="http://schemas.openxmlformats.org/package/2006/content-types">
  <Default ContentType="image/jpeg" Extension="jpg"/>
  <Default ContentType="application/vnd.openxmlformats-officedocument.spreadsheetml.sheet" Extension="xlsx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drawingml.chart+xml" PartName="/ppt/charts/chart3.xml"/>
  <Override ContentType="application/vnd.openxmlformats-officedocument.drawingml.chart+xml" PartName="/ppt/charts/chart2.xml"/>
  <Override ContentType="application/vnd.openxmlformats-officedocument.drawingml.chart+xml" PartName="/ppt/charts/chart5.xml"/>
  <Override ContentType="application/vnd.openxmlformats-officedocument.drawingml.chart+xml" PartName="/ppt/charts/chart4.xml"/>
  <Override ContentType="application/vnd.openxmlformats-officedocument.drawingml.chart+xml" PartName="/ppt/charts/chart6.xml"/>
  <Override ContentType="application/vnd.openxmlformats-officedocument.drawingml.chart+xml" PartName="/ppt/charts/chart1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6" roundtripDataSignature="AMtx7mhFDspOoE9r+LzvL/5SjYIlSblS9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6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charts/_rels/chart1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pt-BR"/>
  <c:roundedCorners val="1"/>
  <c:style val="2"/>
  <c:chart>
    <c:title>
      <c:tx>
        <c:rich>
          <a:bodyPr/>
          <a:lstStyle/>
          <a:p>
            <a:r>
              <a:rPr lang="pt-BR" sz="1275" b="1">
                <a:solidFill>
                  <a:srgbClr val="172B4D"/>
                </a:solidFill>
                <a:latin typeface="Aptos"/>
                <a:ea typeface="Aptos"/>
                <a:cs typeface="Aptos"/>
              </a:rPr>
              <a:t>Duração média (segundos)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v>Duração</c:v>
          </c:tx>
          <c:spPr>
            <a:solidFill>
              <a:srgbClr val="1877C9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050" b="1">
                    <a:solidFill>
                      <a:srgbClr val="172B4D"/>
                    </a:solidFill>
                    <a:latin typeface="Aptos"/>
                    <a:ea typeface="Aptos"/>
                    <a:cs typeface="Aptos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Data'!$A$2:$A$3</c:f>
              <c:strCache>
                <c:ptCount val="2"/>
                <c:pt idx="0">
                  <c:v>GPU</c:v>
                </c:pt>
                <c:pt idx="1">
                  <c:v>CPU</c:v>
                </c:pt>
              </c:strCache>
            </c:strRef>
          </c:cat>
          <c:val>
            <c:numRef>
              <c:f>'Chart Data'!$B$2:$B$3</c:f>
              <c:numCache>
                <c:formatCode>0.0</c:formatCode>
                <c:ptCount val="2"/>
                <c:pt idx="0">
                  <c:v>3.41</c:v>
                </c:pt>
                <c:pt idx="1">
                  <c:v>13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F57E-453D-9187-2DED042B39EE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9E2EC"/>
            </a:solidFill>
            <a:prstDash val="solid"/>
          </a:ln>
        </c:spPr>
        <c:txPr>
          <a:bodyPr anchorCtr="1"/>
          <a:lstStyle/>
          <a:p>
            <a:pPr>
              <a:defRPr sz="975">
                <a:solidFill>
                  <a:srgbClr val="172B4D"/>
                </a:solidFill>
                <a:latin typeface="Aptos"/>
                <a:ea typeface="Aptos"/>
                <a:cs typeface="Aptos"/>
              </a:defRPr>
            </a:pPr>
            <a:endParaRPr lang="pt-BR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15"/>
          <c:min val="0"/>
        </c:scaling>
        <c:delete val="0"/>
        <c:axPos val="l"/>
        <c:majorGridlines>
          <c:spPr>
            <a:ln w="9525">
              <a:solidFill>
                <a:srgbClr val="D9E2EC"/>
              </a:solidFill>
              <a:prstDash val="solid"/>
            </a:ln>
          </c:spPr>
        </c:majorGridlines>
        <c:numFmt formatCode="0.0" sourceLinked="1"/>
        <c:majorTickMark val="none"/>
        <c:minorTickMark val="none"/>
        <c:tickLblPos val="nextTo"/>
        <c:spPr>
          <a:ln w="9525">
            <a:solidFill>
              <a:srgbClr val="D9E2EC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5B7083"/>
                </a:solidFill>
                <a:latin typeface="Aptos"/>
                <a:ea typeface="Aptos"/>
                <a:cs typeface="Aptos"/>
              </a:defRPr>
            </a:pPr>
            <a:endParaRPr lang="pt-BR"/>
          </a:p>
        </c:txPr>
        <c:crossAx val="48650112"/>
        <c:crosses val="autoZero"/>
        <c:crossBetween val="between"/>
        <c:majorUnit val="3"/>
      </c:valAx>
    </c:plotArea>
    <c:plotVisOnly val="1"/>
    <c:dispBlanksAs val="zero"/>
    <c:showDLblsOverMax val="1"/>
  </c:chart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pt-BR"/>
  <c:roundedCorners val="1"/>
  <c:style val="2"/>
  <c:chart>
    <c:title>
      <c:tx>
        <c:rich>
          <a:bodyPr/>
          <a:lstStyle/>
          <a:p>
            <a:r>
              <a:rPr lang="pt-BR" sz="1275" b="1">
                <a:solidFill>
                  <a:srgbClr val="172B4D"/>
                </a:solidFill>
                <a:latin typeface="Aptos"/>
                <a:ea typeface="Aptos"/>
                <a:cs typeface="Aptos"/>
              </a:rPr>
              <a:t>Velocidade média (tokens/s)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v>tokens/s</c:v>
          </c:tx>
          <c:spPr>
            <a:solidFill>
              <a:srgbClr val="E36B2C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050" b="1">
                    <a:solidFill>
                      <a:srgbClr val="172B4D"/>
                    </a:solidFill>
                    <a:latin typeface="Aptos"/>
                    <a:ea typeface="Aptos"/>
                    <a:cs typeface="Aptos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Data'!$A$2:$A$3</c:f>
              <c:strCache>
                <c:ptCount val="2"/>
                <c:pt idx="0">
                  <c:v>GPU</c:v>
                </c:pt>
                <c:pt idx="1">
                  <c:v>CPU</c:v>
                </c:pt>
              </c:strCache>
            </c:strRef>
          </c:cat>
          <c:val>
            <c:numRef>
              <c:f>'Chart Data'!$B$2:$B$3</c:f>
              <c:numCache>
                <c:formatCode>0</c:formatCode>
                <c:ptCount val="2"/>
                <c:pt idx="0">
                  <c:v>167.74</c:v>
                </c:pt>
                <c:pt idx="1">
                  <c:v>42.03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3A42-48C0-9160-9F9816E77533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9E2EC"/>
            </a:solidFill>
            <a:prstDash val="solid"/>
          </a:ln>
        </c:spPr>
        <c:txPr>
          <a:bodyPr anchorCtr="1"/>
          <a:lstStyle/>
          <a:p>
            <a:pPr>
              <a:defRPr sz="975">
                <a:solidFill>
                  <a:srgbClr val="172B4D"/>
                </a:solidFill>
                <a:latin typeface="Aptos"/>
                <a:ea typeface="Aptos"/>
                <a:cs typeface="Aptos"/>
              </a:defRPr>
            </a:pPr>
            <a:endParaRPr lang="pt-BR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200"/>
          <c:min val="0"/>
        </c:scaling>
        <c:delete val="0"/>
        <c:axPos val="l"/>
        <c:majorGridlines>
          <c:spPr>
            <a:ln w="9525">
              <a:solidFill>
                <a:srgbClr val="D9E2EC"/>
              </a:solidFill>
              <a:prstDash val="solid"/>
            </a:ln>
          </c:spPr>
        </c:majorGridlines>
        <c:numFmt formatCode="0" sourceLinked="1"/>
        <c:majorTickMark val="none"/>
        <c:minorTickMark val="none"/>
        <c:tickLblPos val="nextTo"/>
        <c:spPr>
          <a:ln w="9525">
            <a:solidFill>
              <a:srgbClr val="D9E2EC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5B7083"/>
                </a:solidFill>
                <a:latin typeface="Aptos"/>
                <a:ea typeface="Aptos"/>
                <a:cs typeface="Aptos"/>
              </a:defRPr>
            </a:pPr>
            <a:endParaRPr lang="pt-BR"/>
          </a:p>
        </c:txPr>
        <c:crossAx val="48650112"/>
        <c:crosses val="autoZero"/>
        <c:crossBetween val="between"/>
        <c:majorUnit val="40"/>
      </c:valAx>
    </c:plotArea>
    <c:plotVisOnly val="1"/>
    <c:dispBlanksAs val="zero"/>
    <c:showDLblsOverMax val="1"/>
  </c:chart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pt-BR"/>
  <c:roundedCorners val="1"/>
  <c:style val="2"/>
  <c:chart>
    <c:title>
      <c:tx>
        <c:rich>
          <a:bodyPr/>
          <a:lstStyle/>
          <a:p>
            <a:r>
              <a:rPr lang="pt-BR" sz="1275" b="1">
                <a:solidFill>
                  <a:srgbClr val="172B4D"/>
                </a:solidFill>
                <a:latin typeface="Aptos"/>
                <a:ea typeface="Aptos"/>
                <a:cs typeface="Aptos"/>
              </a:rPr>
              <a:t>Duração média por requisição (s)</a:t>
            </a:r>
          </a:p>
        </c:rich>
      </c:tx>
      <c:overlay val="0"/>
    </c:title>
    <c:autoTitleDeleted val="0"/>
    <c:plotArea>
      <c:layout/>
      <c:lineChart>
        <c:grouping val="standard"/>
        <c:varyColors val="1"/>
        <c:ser>
          <c:idx val="0"/>
          <c:order val="0"/>
          <c:tx>
            <c:v>GPU</c:v>
          </c:tx>
          <c:spPr>
            <a:ln w="28575">
              <a:solidFill>
                <a:srgbClr val="1877C9"/>
              </a:solidFill>
              <a:prstDash val="solid"/>
            </a:ln>
          </c:spPr>
          <c:marker>
            <c:symbol val="circle"/>
            <c:size val="7"/>
            <c:spPr>
              <a:solidFill>
                <a:srgbClr val="1877C9"/>
              </a:solidFill>
            </c:spPr>
          </c:marker>
          <c:cat>
            <c:numRef>
              <c:f>'Chart Data'!$A$2:$A$5</c:f>
              <c:numCache>
                <c:formatCode>General</c:formatCode>
                <c:ptCount val="4"/>
                <c:pt idx="0">
                  <c:v>2</c:v>
                </c:pt>
                <c:pt idx="1">
                  <c:v>4</c:v>
                </c:pt>
                <c:pt idx="2">
                  <c:v>6</c:v>
                </c:pt>
                <c:pt idx="3">
                  <c:v>12</c:v>
                </c:pt>
              </c:numCache>
            </c:num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1.1000000000000001</c:v>
                </c:pt>
                <c:pt idx="1">
                  <c:v>4.88</c:v>
                </c:pt>
                <c:pt idx="2">
                  <c:v>8.1300000000000008</c:v>
                </c:pt>
                <c:pt idx="3">
                  <c:v>13.35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0A2B-4285-A083-7BCE9E299F88}"/>
            </c:ext>
          </c:extLst>
        </c:ser>
        <c:ser>
          <c:idx val="1"/>
          <c:order val="1"/>
          <c:tx>
            <c:v>CPU</c:v>
          </c:tx>
          <c:spPr>
            <a:ln w="28575">
              <a:solidFill>
                <a:srgbClr val="E36B2C"/>
              </a:solidFill>
              <a:prstDash val="solid"/>
            </a:ln>
          </c:spPr>
          <c:marker>
            <c:symbol val="circle"/>
            <c:size val="7"/>
            <c:spPr>
              <a:solidFill>
                <a:srgbClr val="E36B2C"/>
              </a:solidFill>
            </c:spPr>
          </c:marker>
          <c:cat>
            <c:numRef>
              <c:f>'Chart Data'!$C$2:$C$5</c:f>
              <c:numCache>
                <c:formatCode>General</c:formatCode>
                <c:ptCount val="4"/>
                <c:pt idx="0">
                  <c:v>2</c:v>
                </c:pt>
                <c:pt idx="1">
                  <c:v>4</c:v>
                </c:pt>
                <c:pt idx="2">
                  <c:v>6</c:v>
                </c:pt>
                <c:pt idx="3">
                  <c:v>12</c:v>
                </c:pt>
              </c:numCache>
            </c:numRef>
          </c:cat>
          <c:val>
            <c:numRef>
              <c:f>'Chart Data'!$D$2:$D$5</c:f>
              <c:numCache>
                <c:formatCode>General</c:formatCode>
                <c:ptCount val="4"/>
                <c:pt idx="0">
                  <c:v>3.74</c:v>
                </c:pt>
                <c:pt idx="1">
                  <c:v>22.08</c:v>
                </c:pt>
                <c:pt idx="2">
                  <c:v>34.520000000000003</c:v>
                </c:pt>
                <c:pt idx="3">
                  <c:v>63.21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0A2B-4285-A083-7BCE9E299F8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lang="pt-BR" sz="900">
                    <a:solidFill>
                      <a:srgbClr val="5B7083"/>
                    </a:solidFill>
                    <a:latin typeface="Aptos"/>
                    <a:ea typeface="Aptos"/>
                    <a:cs typeface="Aptos"/>
                  </a:rPr>
                  <a:t>Requisições simultâneas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9E2EC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172B4D"/>
                </a:solidFill>
                <a:latin typeface="Aptos"/>
                <a:ea typeface="Aptos"/>
                <a:cs typeface="Aptos"/>
              </a:defRPr>
            </a:pPr>
            <a:endParaRPr lang="pt-BR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70"/>
          <c:min val="0"/>
        </c:scaling>
        <c:delete val="0"/>
        <c:axPos val="l"/>
        <c:majorGridlines>
          <c:spPr>
            <a:ln w="9525">
              <a:solidFill>
                <a:srgbClr val="D9E2EC"/>
              </a:solidFill>
              <a:prstDash val="solid"/>
            </a:ln>
          </c:spPr>
        </c:majorGridlines>
        <c:numFmt formatCode="General" sourceLinked="1"/>
        <c:majorTickMark val="none"/>
        <c:minorTickMark val="none"/>
        <c:tickLblPos val="nextTo"/>
        <c:spPr>
          <a:ln w="9525">
            <a:solidFill>
              <a:srgbClr val="D9E2EC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5B7083"/>
                </a:solidFill>
                <a:latin typeface="Aptos"/>
                <a:ea typeface="Aptos"/>
                <a:cs typeface="Aptos"/>
              </a:defRPr>
            </a:pPr>
            <a:endParaRPr lang="pt-BR"/>
          </a:p>
        </c:txPr>
        <c:crossAx val="48650112"/>
        <c:crosses val="autoZero"/>
        <c:crossBetween val="between"/>
        <c:majorUnit val="10"/>
      </c:valAx>
    </c:plotArea>
    <c:legend>
      <c:legendPos val="b"/>
      <c:overlay val="0"/>
      <c:txPr>
        <a:bodyPr anchorCtr="1"/>
        <a:lstStyle/>
        <a:p>
          <a:pPr>
            <a:defRPr sz="900">
              <a:solidFill>
                <a:srgbClr val="172B4D"/>
              </a:solidFill>
              <a:latin typeface="Aptos"/>
              <a:ea typeface="Aptos"/>
              <a:cs typeface="Aptos"/>
            </a:defRPr>
          </a:pPr>
          <a:endParaRPr lang="pt-BR"/>
        </a:p>
      </c:txPr>
    </c:legend>
    <c:plotVisOnly val="1"/>
    <c:dispBlanksAs val="zero"/>
    <c:showDLblsOverMax val="1"/>
  </c:chart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pt-BR"/>
  <c:roundedCorners val="1"/>
  <c:style val="2"/>
  <c:chart>
    <c:title>
      <c:tx>
        <c:rich>
          <a:bodyPr/>
          <a:lstStyle/>
          <a:p>
            <a:r>
              <a:rPr lang="pt-BR" sz="1275" b="1">
                <a:solidFill>
                  <a:srgbClr val="172B4D"/>
                </a:solidFill>
                <a:latin typeface="Aptos"/>
                <a:ea typeface="Aptos"/>
                <a:cs typeface="Aptos"/>
              </a:rPr>
              <a:t>Vazão (requisições/s)</a:t>
            </a:r>
          </a:p>
        </c:rich>
      </c:tx>
      <c:overlay val="0"/>
    </c:title>
    <c:autoTitleDeleted val="0"/>
    <c:plotArea>
      <c:layout/>
      <c:lineChart>
        <c:grouping val="standard"/>
        <c:varyColors val="1"/>
        <c:ser>
          <c:idx val="0"/>
          <c:order val="0"/>
          <c:tx>
            <c:v>GPU</c:v>
          </c:tx>
          <c:spPr>
            <a:ln w="28575">
              <a:solidFill>
                <a:srgbClr val="1877C9"/>
              </a:solidFill>
              <a:prstDash val="solid"/>
            </a:ln>
          </c:spPr>
          <c:marker>
            <c:symbol val="circle"/>
            <c:size val="7"/>
            <c:spPr>
              <a:solidFill>
                <a:srgbClr val="1877C9"/>
              </a:solidFill>
            </c:spPr>
          </c:marker>
          <c:cat>
            <c:numRef>
              <c:f>'Chart Data'!$A$2:$A$5</c:f>
              <c:numCache>
                <c:formatCode>General</c:formatCode>
                <c:ptCount val="4"/>
                <c:pt idx="0">
                  <c:v>2</c:v>
                </c:pt>
                <c:pt idx="1">
                  <c:v>4</c:v>
                </c:pt>
                <c:pt idx="2">
                  <c:v>6</c:v>
                </c:pt>
                <c:pt idx="3">
                  <c:v>12</c:v>
                </c:pt>
              </c:numCache>
            </c:numRef>
          </c:cat>
          <c:val>
            <c:numRef>
              <c:f>'Chart Data'!$B$2:$B$5</c:f>
              <c:numCache>
                <c:formatCode>0.0</c:formatCode>
                <c:ptCount val="4"/>
                <c:pt idx="0">
                  <c:v>1.667</c:v>
                </c:pt>
                <c:pt idx="1">
                  <c:v>0.40899999999999997</c:v>
                </c:pt>
                <c:pt idx="2">
                  <c:v>0.374</c:v>
                </c:pt>
                <c:pt idx="3">
                  <c:v>0.47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037B-4B60-97B5-0551C838BAF3}"/>
            </c:ext>
          </c:extLst>
        </c:ser>
        <c:ser>
          <c:idx val="1"/>
          <c:order val="1"/>
          <c:tx>
            <c:v>CPU</c:v>
          </c:tx>
          <c:spPr>
            <a:ln w="28575">
              <a:solidFill>
                <a:srgbClr val="E36B2C"/>
              </a:solidFill>
              <a:prstDash val="solid"/>
            </a:ln>
          </c:spPr>
          <c:marker>
            <c:symbol val="circle"/>
            <c:size val="7"/>
            <c:spPr>
              <a:solidFill>
                <a:srgbClr val="E36B2C"/>
              </a:solidFill>
            </c:spPr>
          </c:marker>
          <c:cat>
            <c:numRef>
              <c:f>'Chart Data'!$C$2:$C$5</c:f>
              <c:numCache>
                <c:formatCode>General</c:formatCode>
                <c:ptCount val="4"/>
                <c:pt idx="0">
                  <c:v>2</c:v>
                </c:pt>
                <c:pt idx="1">
                  <c:v>4</c:v>
                </c:pt>
                <c:pt idx="2">
                  <c:v>6</c:v>
                </c:pt>
                <c:pt idx="3">
                  <c:v>12</c:v>
                </c:pt>
              </c:numCache>
            </c:numRef>
          </c:cat>
          <c:val>
            <c:numRef>
              <c:f>'Chart Data'!$D$2:$D$5</c:f>
              <c:numCache>
                <c:formatCode>0.0</c:formatCode>
                <c:ptCount val="4"/>
                <c:pt idx="0">
                  <c:v>0.503</c:v>
                </c:pt>
                <c:pt idx="1">
                  <c:v>8.5000000000000006E-2</c:v>
                </c:pt>
                <c:pt idx="2">
                  <c:v>9.2999999999999999E-2</c:v>
                </c:pt>
                <c:pt idx="3">
                  <c:v>0.111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037B-4B60-97B5-0551C838BAF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lang="pt-BR" sz="900">
                    <a:solidFill>
                      <a:srgbClr val="5B7083"/>
                    </a:solidFill>
                    <a:latin typeface="Aptos"/>
                    <a:ea typeface="Aptos"/>
                    <a:cs typeface="Aptos"/>
                  </a:rPr>
                  <a:t>Requisições simultâneas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9E2EC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172B4D"/>
                </a:solidFill>
                <a:latin typeface="Aptos"/>
                <a:ea typeface="Aptos"/>
                <a:cs typeface="Aptos"/>
              </a:defRPr>
            </a:pPr>
            <a:endParaRPr lang="pt-BR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1.8"/>
          <c:min val="0"/>
        </c:scaling>
        <c:delete val="0"/>
        <c:axPos val="l"/>
        <c:majorGridlines>
          <c:spPr>
            <a:ln w="9525">
              <a:solidFill>
                <a:srgbClr val="D9E2EC"/>
              </a:solidFill>
              <a:prstDash val="solid"/>
            </a:ln>
          </c:spPr>
        </c:majorGridlines>
        <c:numFmt formatCode="0.0" sourceLinked="1"/>
        <c:majorTickMark val="none"/>
        <c:minorTickMark val="none"/>
        <c:tickLblPos val="nextTo"/>
        <c:spPr>
          <a:ln w="9525">
            <a:solidFill>
              <a:srgbClr val="D9E2EC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5B7083"/>
                </a:solidFill>
                <a:latin typeface="Aptos"/>
                <a:ea typeface="Aptos"/>
                <a:cs typeface="Aptos"/>
              </a:defRPr>
            </a:pPr>
            <a:endParaRPr lang="pt-BR"/>
          </a:p>
        </c:txPr>
        <c:crossAx val="48650112"/>
        <c:crosses val="autoZero"/>
        <c:crossBetween val="between"/>
        <c:majorUnit val="0.3"/>
      </c:valAx>
    </c:plotArea>
    <c:legend>
      <c:legendPos val="b"/>
      <c:overlay val="0"/>
      <c:txPr>
        <a:bodyPr anchorCtr="1"/>
        <a:lstStyle/>
        <a:p>
          <a:pPr>
            <a:defRPr sz="900">
              <a:solidFill>
                <a:srgbClr val="172B4D"/>
              </a:solidFill>
              <a:latin typeface="Aptos"/>
              <a:ea typeface="Aptos"/>
              <a:cs typeface="Aptos"/>
            </a:defRPr>
          </a:pPr>
          <a:endParaRPr lang="pt-BR"/>
        </a:p>
      </c:txPr>
    </c:legend>
    <c:plotVisOnly val="1"/>
    <c:dispBlanksAs val="zero"/>
    <c:showDLblsOverMax val="1"/>
  </c:chart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pt-BR"/>
  <c:roundedCorners val="1"/>
  <c:style val="2"/>
  <c:chart>
    <c:title>
      <c:tx>
        <c:rich>
          <a:bodyPr/>
          <a:lstStyle/>
          <a:p>
            <a:r>
              <a:rPr lang="pt-BR" sz="1275" b="1">
                <a:solidFill>
                  <a:srgbClr val="172B4D"/>
                </a:solidFill>
                <a:latin typeface="Aptos"/>
                <a:ea typeface="Aptos"/>
                <a:cs typeface="Aptos"/>
              </a:rPr>
              <a:t>CPU de pico (%)</a:t>
            </a:r>
          </a:p>
        </c:rich>
      </c:tx>
      <c:overlay val="0"/>
    </c:title>
    <c:autoTitleDeleted val="0"/>
    <c:plotArea>
      <c:layout/>
      <c:lineChart>
        <c:grouping val="standard"/>
        <c:varyColors val="1"/>
        <c:ser>
          <c:idx val="0"/>
          <c:order val="0"/>
          <c:tx>
            <c:v>GPU</c:v>
          </c:tx>
          <c:spPr>
            <a:ln w="28575">
              <a:solidFill>
                <a:srgbClr val="1877C9"/>
              </a:solidFill>
              <a:prstDash val="solid"/>
            </a:ln>
          </c:spPr>
          <c:marker>
            <c:symbol val="circle"/>
            <c:size val="7"/>
            <c:spPr>
              <a:solidFill>
                <a:srgbClr val="1877C9"/>
              </a:solidFill>
            </c:spPr>
          </c:marker>
          <c:cat>
            <c:numRef>
              <c:f>'Chart Data'!$A$2:$A$5</c:f>
              <c:numCache>
                <c:formatCode>General</c:formatCode>
                <c:ptCount val="4"/>
                <c:pt idx="0">
                  <c:v>2</c:v>
                </c:pt>
                <c:pt idx="1">
                  <c:v>4</c:v>
                </c:pt>
                <c:pt idx="2">
                  <c:v>6</c:v>
                </c:pt>
                <c:pt idx="3">
                  <c:v>12</c:v>
                </c:pt>
              </c:numCache>
            </c:numRef>
          </c:cat>
          <c:val>
            <c:numRef>
              <c:f>'Chart Data'!$B$2:$B$5</c:f>
              <c:numCache>
                <c:formatCode>0</c:formatCode>
                <c:ptCount val="4"/>
                <c:pt idx="0">
                  <c:v>145.96</c:v>
                </c:pt>
                <c:pt idx="1">
                  <c:v>729.43</c:v>
                </c:pt>
                <c:pt idx="2">
                  <c:v>751.85</c:v>
                </c:pt>
                <c:pt idx="3">
                  <c:v>745.52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C140-4906-A803-AA8D428D8C54}"/>
            </c:ext>
          </c:extLst>
        </c:ser>
        <c:ser>
          <c:idx val="1"/>
          <c:order val="1"/>
          <c:tx>
            <c:v>CPU</c:v>
          </c:tx>
          <c:spPr>
            <a:ln w="28575">
              <a:solidFill>
                <a:srgbClr val="E36B2C"/>
              </a:solidFill>
              <a:prstDash val="solid"/>
            </a:ln>
          </c:spPr>
          <c:marker>
            <c:symbol val="circle"/>
            <c:size val="7"/>
            <c:spPr>
              <a:solidFill>
                <a:srgbClr val="E36B2C"/>
              </a:solidFill>
            </c:spPr>
          </c:marker>
          <c:cat>
            <c:numRef>
              <c:f>'Chart Data'!$C$2:$C$5</c:f>
              <c:numCache>
                <c:formatCode>General</c:formatCode>
                <c:ptCount val="4"/>
                <c:pt idx="0">
                  <c:v>2</c:v>
                </c:pt>
                <c:pt idx="1">
                  <c:v>4</c:v>
                </c:pt>
                <c:pt idx="2">
                  <c:v>6</c:v>
                </c:pt>
                <c:pt idx="3">
                  <c:v>12</c:v>
                </c:pt>
              </c:numCache>
            </c:numRef>
          </c:cat>
          <c:val>
            <c:numRef>
              <c:f>'Chart Data'!$D$2:$D$5</c:f>
              <c:numCache>
                <c:formatCode>0</c:formatCode>
                <c:ptCount val="4"/>
                <c:pt idx="0">
                  <c:v>1399.46</c:v>
                </c:pt>
                <c:pt idx="1">
                  <c:v>1408.74</c:v>
                </c:pt>
                <c:pt idx="2">
                  <c:v>1409.12</c:v>
                </c:pt>
                <c:pt idx="3">
                  <c:v>1408.15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C140-4906-A803-AA8D428D8C5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lang="pt-BR" sz="900">
                    <a:solidFill>
                      <a:srgbClr val="5B7083"/>
                    </a:solidFill>
                    <a:latin typeface="Aptos"/>
                    <a:ea typeface="Aptos"/>
                    <a:cs typeface="Aptos"/>
                  </a:rPr>
                  <a:t>Requisições simultâneas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9E2EC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172B4D"/>
                </a:solidFill>
                <a:latin typeface="Aptos"/>
                <a:ea typeface="Aptos"/>
                <a:cs typeface="Aptos"/>
              </a:defRPr>
            </a:pPr>
            <a:endParaRPr lang="pt-BR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1500"/>
          <c:min val="0"/>
        </c:scaling>
        <c:delete val="0"/>
        <c:axPos val="l"/>
        <c:majorGridlines>
          <c:spPr>
            <a:ln w="9525">
              <a:solidFill>
                <a:srgbClr val="D9E2EC"/>
              </a:solidFill>
              <a:prstDash val="solid"/>
            </a:ln>
          </c:spPr>
        </c:majorGridlines>
        <c:numFmt formatCode="0" sourceLinked="1"/>
        <c:majorTickMark val="none"/>
        <c:minorTickMark val="none"/>
        <c:tickLblPos val="nextTo"/>
        <c:spPr>
          <a:ln w="9525">
            <a:solidFill>
              <a:srgbClr val="D9E2EC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5B7083"/>
                </a:solidFill>
                <a:latin typeface="Aptos"/>
                <a:ea typeface="Aptos"/>
                <a:cs typeface="Aptos"/>
              </a:defRPr>
            </a:pPr>
            <a:endParaRPr lang="pt-BR"/>
          </a:p>
        </c:txPr>
        <c:crossAx val="48650112"/>
        <c:crosses val="autoZero"/>
        <c:crossBetween val="between"/>
        <c:majorUnit val="300"/>
      </c:valAx>
    </c:plotArea>
    <c:legend>
      <c:legendPos val="b"/>
      <c:overlay val="0"/>
      <c:txPr>
        <a:bodyPr anchorCtr="1"/>
        <a:lstStyle/>
        <a:p>
          <a:pPr>
            <a:defRPr sz="900">
              <a:solidFill>
                <a:srgbClr val="172B4D"/>
              </a:solidFill>
              <a:latin typeface="Aptos"/>
              <a:ea typeface="Aptos"/>
              <a:cs typeface="Aptos"/>
            </a:defRPr>
          </a:pPr>
          <a:endParaRPr lang="pt-BR"/>
        </a:p>
      </c:txPr>
    </c:legend>
    <c:plotVisOnly val="1"/>
    <c:dispBlanksAs val="zero"/>
    <c:showDLblsOverMax val="1"/>
  </c:chart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pt-BR"/>
  <c:roundedCorners val="1"/>
  <c:style val="2"/>
  <c:chart>
    <c:title>
      <c:tx>
        <c:rich>
          <a:bodyPr/>
          <a:lstStyle/>
          <a:p>
            <a:r>
              <a:rPr lang="pt-BR" sz="1275" b="1">
                <a:solidFill>
                  <a:srgbClr val="172B4D"/>
                </a:solidFill>
                <a:latin typeface="Aptos"/>
                <a:ea typeface="Aptos"/>
                <a:cs typeface="Aptos"/>
              </a:rPr>
              <a:t>Memória de pico (MiB)</a:t>
            </a:r>
          </a:p>
        </c:rich>
      </c:tx>
      <c:overlay val="0"/>
    </c:title>
    <c:autoTitleDeleted val="0"/>
    <c:plotArea>
      <c:layout/>
      <c:lineChart>
        <c:grouping val="standard"/>
        <c:varyColors val="1"/>
        <c:ser>
          <c:idx val="0"/>
          <c:order val="0"/>
          <c:tx>
            <c:v>GPU</c:v>
          </c:tx>
          <c:spPr>
            <a:ln w="28575">
              <a:solidFill>
                <a:srgbClr val="1877C9"/>
              </a:solidFill>
              <a:prstDash val="solid"/>
            </a:ln>
          </c:spPr>
          <c:marker>
            <c:symbol val="circle"/>
            <c:size val="7"/>
            <c:spPr>
              <a:solidFill>
                <a:srgbClr val="1877C9"/>
              </a:solidFill>
            </c:spPr>
          </c:marker>
          <c:cat>
            <c:numRef>
              <c:f>'Chart Data'!$A$2:$A$5</c:f>
              <c:numCache>
                <c:formatCode>General</c:formatCode>
                <c:ptCount val="4"/>
                <c:pt idx="0">
                  <c:v>2</c:v>
                </c:pt>
                <c:pt idx="1">
                  <c:v>4</c:v>
                </c:pt>
                <c:pt idx="2">
                  <c:v>6</c:v>
                </c:pt>
                <c:pt idx="3">
                  <c:v>12</c:v>
                </c:pt>
              </c:numCache>
            </c:numRef>
          </c:cat>
          <c:val>
            <c:numRef>
              <c:f>'Chart Data'!$B$2:$B$5</c:f>
              <c:numCache>
                <c:formatCode>0</c:formatCode>
                <c:ptCount val="4"/>
                <c:pt idx="0">
                  <c:v>1127.4000000000001</c:v>
                </c:pt>
                <c:pt idx="1">
                  <c:v>1218.5999999999999</c:v>
                </c:pt>
                <c:pt idx="2">
                  <c:v>1413.1</c:v>
                </c:pt>
                <c:pt idx="3">
                  <c:v>1780.7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9A18-44CA-A80C-6A2576E225B3}"/>
            </c:ext>
          </c:extLst>
        </c:ser>
        <c:ser>
          <c:idx val="1"/>
          <c:order val="1"/>
          <c:tx>
            <c:v>CPU</c:v>
          </c:tx>
          <c:spPr>
            <a:ln w="28575">
              <a:solidFill>
                <a:srgbClr val="E36B2C"/>
              </a:solidFill>
              <a:prstDash val="solid"/>
            </a:ln>
          </c:spPr>
          <c:marker>
            <c:symbol val="circle"/>
            <c:size val="7"/>
            <c:spPr>
              <a:solidFill>
                <a:srgbClr val="E36B2C"/>
              </a:solidFill>
            </c:spPr>
          </c:marker>
          <c:cat>
            <c:numRef>
              <c:f>'Chart Data'!$C$2:$C$5</c:f>
              <c:numCache>
                <c:formatCode>General</c:formatCode>
                <c:ptCount val="4"/>
                <c:pt idx="0">
                  <c:v>2</c:v>
                </c:pt>
                <c:pt idx="1">
                  <c:v>4</c:v>
                </c:pt>
                <c:pt idx="2">
                  <c:v>6</c:v>
                </c:pt>
                <c:pt idx="3">
                  <c:v>12</c:v>
                </c:pt>
              </c:numCache>
            </c:numRef>
          </c:cat>
          <c:val>
            <c:numRef>
              <c:f>'Chart Data'!$D$2:$D$5</c:f>
              <c:numCache>
                <c:formatCode>0</c:formatCode>
                <c:ptCount val="4"/>
                <c:pt idx="0">
                  <c:v>2467.8000000000002</c:v>
                </c:pt>
                <c:pt idx="1">
                  <c:v>2536.4</c:v>
                </c:pt>
                <c:pt idx="2">
                  <c:v>2733.1</c:v>
                </c:pt>
                <c:pt idx="3">
                  <c:v>3050.5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9A18-44CA-A80C-6A2576E225B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lang="pt-BR" sz="900">
                    <a:solidFill>
                      <a:srgbClr val="5B7083"/>
                    </a:solidFill>
                    <a:latin typeface="Aptos"/>
                    <a:ea typeface="Aptos"/>
                    <a:cs typeface="Aptos"/>
                  </a:rPr>
                  <a:t>Requisições simultâneas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9E2EC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172B4D"/>
                </a:solidFill>
                <a:latin typeface="Aptos"/>
                <a:ea typeface="Aptos"/>
                <a:cs typeface="Aptos"/>
              </a:defRPr>
            </a:pPr>
            <a:endParaRPr lang="pt-BR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3600"/>
          <c:min val="0"/>
        </c:scaling>
        <c:delete val="0"/>
        <c:axPos val="l"/>
        <c:majorGridlines>
          <c:spPr>
            <a:ln w="9525">
              <a:solidFill>
                <a:srgbClr val="D9E2EC"/>
              </a:solidFill>
              <a:prstDash val="solid"/>
            </a:ln>
          </c:spPr>
        </c:majorGridlines>
        <c:numFmt formatCode="0" sourceLinked="1"/>
        <c:majorTickMark val="none"/>
        <c:minorTickMark val="none"/>
        <c:tickLblPos val="nextTo"/>
        <c:spPr>
          <a:ln w="9525">
            <a:solidFill>
              <a:srgbClr val="D9E2EC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5B7083"/>
                </a:solidFill>
                <a:latin typeface="Aptos"/>
                <a:ea typeface="Aptos"/>
                <a:cs typeface="Aptos"/>
              </a:defRPr>
            </a:pPr>
            <a:endParaRPr lang="pt-BR"/>
          </a:p>
        </c:txPr>
        <c:crossAx val="48650112"/>
        <c:crosses val="autoZero"/>
        <c:crossBetween val="between"/>
        <c:majorUnit val="600"/>
      </c:valAx>
    </c:plotArea>
    <c:legend>
      <c:legendPos val="b"/>
      <c:overlay val="0"/>
      <c:txPr>
        <a:bodyPr anchorCtr="1"/>
        <a:lstStyle/>
        <a:p>
          <a:pPr>
            <a:defRPr sz="900">
              <a:solidFill>
                <a:srgbClr val="172B4D"/>
              </a:solidFill>
              <a:latin typeface="Aptos"/>
              <a:ea typeface="Aptos"/>
              <a:cs typeface="Aptos"/>
            </a:defRPr>
          </a:pPr>
          <a:endParaRPr lang="pt-BR"/>
        </a:p>
      </c:txPr>
    </c:legend>
    <c:plotVisOnly val="1"/>
    <c:dispBlanksAs val="zero"/>
    <c:showDLblsOverMax val="1"/>
  </c:chart>
  <c:externalData r:id="rId1">
    <c:autoUpdate val="0"/>
  </c:externalData>
</c:chartSpace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g3fb66b3fc85_1_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" name="Google Shape;28;g3fb66b3fc85_1_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g3fb66b3fc85_1_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g3fb66b3fc85_1_4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9" name="Google Shape;39;g3fb66b3fc85_1_4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g3fb66b3fc85_1_4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3fb66b3fc85_1_7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8" name="Google Shape;48;g3fb66b3fc85_1_7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g3fb66b3fc85_1_7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fb66b3fc85_1_8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8" name="Google Shape;58;g3fb66b3fc85_1_8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g3fb66b3fc85_1_8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fb6e6f24db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g3fb6e6f24db_1_1:notes"/>
          <p:cNvSpPr/>
          <p:nvPr>
            <p:ph idx="2" type="sldImg"/>
          </p:nvPr>
        </p:nvSpPr>
        <p:spPr>
          <a:xfrm>
            <a:off x="1143225" y="685800"/>
            <a:ext cx="4572300" cy="3429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fb6e6f24db_1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g3fb6e6f24db_1_57:notes"/>
          <p:cNvSpPr/>
          <p:nvPr>
            <p:ph idx="2" type="sldImg"/>
          </p:nvPr>
        </p:nvSpPr>
        <p:spPr>
          <a:xfrm>
            <a:off x="1143225" y="685800"/>
            <a:ext cx="4572300" cy="3429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fb6e6f24db_1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g3fb6e6f24db_1_108:notes"/>
          <p:cNvSpPr/>
          <p:nvPr>
            <p:ph idx="2" type="sldImg"/>
          </p:nvPr>
        </p:nvSpPr>
        <p:spPr>
          <a:xfrm>
            <a:off x="1143225" y="685800"/>
            <a:ext cx="4572300" cy="3429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8" name="Google Shape;108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3" name="Google Shape;123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7" name="Google Shape;137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fb6e6f24d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fb6e6f24d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1">
  <p:cSld name="TITLE_1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g3fb6e6f24db_0_49"/>
          <p:cNvSpPr txBox="1"/>
          <p:nvPr>
            <p:ph type="ctrTitle"/>
          </p:nvPr>
        </p:nvSpPr>
        <p:spPr>
          <a:xfrm>
            <a:off x="415611" y="992767"/>
            <a:ext cx="11360700" cy="27369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900"/>
              <a:buChar char="●"/>
              <a:defRPr sz="6900"/>
            </a:lvl1pPr>
            <a:lvl2pPr lvl="1" algn="ctr">
              <a:spcBef>
                <a:spcPts val="0"/>
              </a:spcBef>
              <a:spcAft>
                <a:spcPts val="0"/>
              </a:spcAft>
              <a:buSzPts val="6900"/>
              <a:buChar char="○"/>
              <a:defRPr sz="6900"/>
            </a:lvl2pPr>
            <a:lvl3pPr lvl="2" algn="ctr">
              <a:spcBef>
                <a:spcPts val="0"/>
              </a:spcBef>
              <a:spcAft>
                <a:spcPts val="0"/>
              </a:spcAft>
              <a:buSzPts val="6900"/>
              <a:buChar char="■"/>
              <a:defRPr sz="6900"/>
            </a:lvl3pPr>
            <a:lvl4pPr lvl="3" algn="ctr">
              <a:spcBef>
                <a:spcPts val="0"/>
              </a:spcBef>
              <a:spcAft>
                <a:spcPts val="0"/>
              </a:spcAft>
              <a:buSzPts val="6900"/>
              <a:buChar char="●"/>
              <a:defRPr sz="6900"/>
            </a:lvl4pPr>
            <a:lvl5pPr lvl="4" algn="ctr">
              <a:spcBef>
                <a:spcPts val="0"/>
              </a:spcBef>
              <a:spcAft>
                <a:spcPts val="0"/>
              </a:spcAft>
              <a:buSzPts val="6900"/>
              <a:buChar char="○"/>
              <a:defRPr sz="6900"/>
            </a:lvl5pPr>
            <a:lvl6pPr lvl="5" algn="ctr">
              <a:spcBef>
                <a:spcPts val="0"/>
              </a:spcBef>
              <a:spcAft>
                <a:spcPts val="0"/>
              </a:spcAft>
              <a:buSzPts val="6900"/>
              <a:buChar char="■"/>
              <a:defRPr sz="6900"/>
            </a:lvl6pPr>
            <a:lvl7pPr lvl="6" algn="ctr">
              <a:spcBef>
                <a:spcPts val="0"/>
              </a:spcBef>
              <a:spcAft>
                <a:spcPts val="0"/>
              </a:spcAft>
              <a:buSzPts val="6900"/>
              <a:buChar char="●"/>
              <a:defRPr sz="6900"/>
            </a:lvl7pPr>
            <a:lvl8pPr lvl="7" algn="ctr">
              <a:spcBef>
                <a:spcPts val="0"/>
              </a:spcBef>
              <a:spcAft>
                <a:spcPts val="0"/>
              </a:spcAft>
              <a:buSzPts val="6900"/>
              <a:buChar char="○"/>
              <a:defRPr sz="6900"/>
            </a:lvl8pPr>
            <a:lvl9pPr lvl="8" algn="ctr">
              <a:spcBef>
                <a:spcPts val="0"/>
              </a:spcBef>
              <a:spcAft>
                <a:spcPts val="0"/>
              </a:spcAft>
              <a:buSzPts val="6900"/>
              <a:buChar char="■"/>
              <a:defRPr sz="6900"/>
            </a:lvl9pPr>
          </a:lstStyle>
          <a:p/>
        </p:txBody>
      </p:sp>
      <p:sp>
        <p:nvSpPr>
          <p:cNvPr id="13" name="Google Shape;13;g3fb6e6f24db_0_49"/>
          <p:cNvSpPr txBox="1"/>
          <p:nvPr>
            <p:ph idx="1" type="subTitle"/>
          </p:nvPr>
        </p:nvSpPr>
        <p:spPr>
          <a:xfrm>
            <a:off x="415600" y="3778833"/>
            <a:ext cx="11360700" cy="105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/>
        </p:txBody>
      </p:sp>
      <p:sp>
        <p:nvSpPr>
          <p:cNvPr id="14" name="Google Shape;14;g3fb6e6f24db_0_49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buNone/>
              <a:defRPr sz="1900"/>
            </a:lvl1pPr>
            <a:lvl2pPr lvl="1">
              <a:buNone/>
              <a:defRPr sz="1900"/>
            </a:lvl2pPr>
            <a:lvl3pPr lvl="2">
              <a:buNone/>
              <a:defRPr sz="1900"/>
            </a:lvl3pPr>
            <a:lvl4pPr lvl="3">
              <a:buNone/>
              <a:defRPr sz="1900"/>
            </a:lvl4pPr>
            <a:lvl5pPr lvl="4">
              <a:buNone/>
              <a:defRPr sz="1900"/>
            </a:lvl5pPr>
            <a:lvl6pPr lvl="5">
              <a:buNone/>
              <a:defRPr sz="1900"/>
            </a:lvl6pPr>
            <a:lvl7pPr lvl="6">
              <a:buNone/>
              <a:defRPr sz="1900"/>
            </a:lvl7pPr>
            <a:lvl8pPr lvl="7">
              <a:buNone/>
              <a:defRPr sz="1900"/>
            </a:lvl8pPr>
            <a:lvl9pPr lvl="8">
              <a:buNone/>
              <a:defRPr sz="1900"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g3fb6e6f24db_1_51"/>
          <p:cNvSpPr txBox="1"/>
          <p:nvPr>
            <p:ph type="title"/>
          </p:nvPr>
        </p:nvSpPr>
        <p:spPr>
          <a:xfrm>
            <a:off x="650875" y="700405"/>
            <a:ext cx="94851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>
                <a:solidFill>
                  <a:srgbClr val="0F2A43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g3fb6e6f24db_1_51"/>
          <p:cNvSpPr txBox="1"/>
          <p:nvPr>
            <p:ph idx="1" type="body"/>
          </p:nvPr>
        </p:nvSpPr>
        <p:spPr>
          <a:xfrm>
            <a:off x="609600" y="1577340"/>
            <a:ext cx="10972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g3fb6e6f24db_1_51"/>
          <p:cNvSpPr txBox="1"/>
          <p:nvPr>
            <p:ph idx="11" type="ftr"/>
          </p:nvPr>
        </p:nvSpPr>
        <p:spPr>
          <a:xfrm>
            <a:off x="4145280" y="6377940"/>
            <a:ext cx="39015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g3fb6e6f24db_1_51"/>
          <p:cNvSpPr txBox="1"/>
          <p:nvPr>
            <p:ph idx="10" type="dt"/>
          </p:nvPr>
        </p:nvSpPr>
        <p:spPr>
          <a:xfrm>
            <a:off x="609600" y="6377940"/>
            <a:ext cx="28041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g3fb6e6f24db_1_51"/>
          <p:cNvSpPr txBox="1"/>
          <p:nvPr>
            <p:ph idx="12" type="sldNum"/>
          </p:nvPr>
        </p:nvSpPr>
        <p:spPr>
          <a:xfrm>
            <a:off x="688975" y="6550709"/>
            <a:ext cx="824100" cy="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12700">
              <a:lnSpc>
                <a:spcPct val="100000"/>
              </a:lnSpc>
              <a:spcBef>
                <a:spcPts val="0"/>
              </a:spcBef>
              <a:buNone/>
              <a:defRPr b="0" i="0" sz="350">
                <a:solidFill>
                  <a:srgbClr val="5B6F83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12700">
              <a:lnSpc>
                <a:spcPct val="100000"/>
              </a:lnSpc>
              <a:spcBef>
                <a:spcPts val="0"/>
              </a:spcBef>
              <a:buNone/>
              <a:defRPr b="0" i="0" sz="350">
                <a:solidFill>
                  <a:srgbClr val="5B6F83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12700">
              <a:lnSpc>
                <a:spcPct val="100000"/>
              </a:lnSpc>
              <a:spcBef>
                <a:spcPts val="0"/>
              </a:spcBef>
              <a:buNone/>
              <a:defRPr b="0" i="0" sz="350">
                <a:solidFill>
                  <a:srgbClr val="5B6F83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12700">
              <a:lnSpc>
                <a:spcPct val="100000"/>
              </a:lnSpc>
              <a:spcBef>
                <a:spcPts val="0"/>
              </a:spcBef>
              <a:buNone/>
              <a:defRPr b="0" i="0" sz="350">
                <a:solidFill>
                  <a:srgbClr val="5B6F83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12700">
              <a:lnSpc>
                <a:spcPct val="100000"/>
              </a:lnSpc>
              <a:spcBef>
                <a:spcPts val="0"/>
              </a:spcBef>
              <a:buNone/>
              <a:defRPr b="0" i="0" sz="350">
                <a:solidFill>
                  <a:srgbClr val="5B6F83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12700">
              <a:lnSpc>
                <a:spcPct val="100000"/>
              </a:lnSpc>
              <a:spcBef>
                <a:spcPts val="0"/>
              </a:spcBef>
              <a:buNone/>
              <a:defRPr b="0" i="0" sz="350">
                <a:solidFill>
                  <a:srgbClr val="5B6F83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12700">
              <a:lnSpc>
                <a:spcPct val="100000"/>
              </a:lnSpc>
              <a:spcBef>
                <a:spcPts val="0"/>
              </a:spcBef>
              <a:buNone/>
              <a:defRPr b="0" i="0" sz="350">
                <a:solidFill>
                  <a:srgbClr val="5B6F83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12700">
              <a:lnSpc>
                <a:spcPct val="100000"/>
              </a:lnSpc>
              <a:spcBef>
                <a:spcPts val="0"/>
              </a:spcBef>
              <a:buNone/>
              <a:defRPr b="0" i="0" sz="350">
                <a:solidFill>
                  <a:srgbClr val="5B6F83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12700">
              <a:lnSpc>
                <a:spcPct val="100000"/>
              </a:lnSpc>
              <a:spcBef>
                <a:spcPts val="0"/>
              </a:spcBef>
              <a:buNone/>
              <a:defRPr b="0" i="0" sz="350">
                <a:solidFill>
                  <a:srgbClr val="5B6F83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Equipe Phi • Grani te 3. 1 MoE • </a:t>
            </a:r>
            <a:fld id="{00000000-1234-1234-1234-123412341234}" type="slidenum">
              <a:rPr lang="en-US"/>
              <a:t>‹#›</a:t>
            </a:fld>
            <a:r>
              <a:rPr lang="en-US"/>
              <a:t>/3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g3fb6e6f24db_1_103"/>
          <p:cNvSpPr txBox="1"/>
          <p:nvPr>
            <p:ph type="title"/>
          </p:nvPr>
        </p:nvSpPr>
        <p:spPr>
          <a:xfrm>
            <a:off x="650875" y="700405"/>
            <a:ext cx="94851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>
                <a:solidFill>
                  <a:srgbClr val="0F2A43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g3fb6e6f24db_1_103"/>
          <p:cNvSpPr txBox="1"/>
          <p:nvPr>
            <p:ph idx="11" type="ftr"/>
          </p:nvPr>
        </p:nvSpPr>
        <p:spPr>
          <a:xfrm>
            <a:off x="4145280" y="6377940"/>
            <a:ext cx="39015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g3fb6e6f24db_1_103"/>
          <p:cNvSpPr txBox="1"/>
          <p:nvPr>
            <p:ph idx="10" type="dt"/>
          </p:nvPr>
        </p:nvSpPr>
        <p:spPr>
          <a:xfrm>
            <a:off x="609600" y="6377940"/>
            <a:ext cx="28041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g3fb6e6f24db_1_103"/>
          <p:cNvSpPr txBox="1"/>
          <p:nvPr>
            <p:ph idx="12" type="sldNum"/>
          </p:nvPr>
        </p:nvSpPr>
        <p:spPr>
          <a:xfrm>
            <a:off x="688975" y="6550709"/>
            <a:ext cx="824100" cy="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12700">
              <a:lnSpc>
                <a:spcPct val="100000"/>
              </a:lnSpc>
              <a:spcBef>
                <a:spcPts val="0"/>
              </a:spcBef>
              <a:buNone/>
              <a:defRPr b="0" i="0" sz="350">
                <a:solidFill>
                  <a:srgbClr val="5B6F83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12700">
              <a:lnSpc>
                <a:spcPct val="100000"/>
              </a:lnSpc>
              <a:spcBef>
                <a:spcPts val="0"/>
              </a:spcBef>
              <a:buNone/>
              <a:defRPr b="0" i="0" sz="350">
                <a:solidFill>
                  <a:srgbClr val="5B6F83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12700">
              <a:lnSpc>
                <a:spcPct val="100000"/>
              </a:lnSpc>
              <a:spcBef>
                <a:spcPts val="0"/>
              </a:spcBef>
              <a:buNone/>
              <a:defRPr b="0" i="0" sz="350">
                <a:solidFill>
                  <a:srgbClr val="5B6F83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12700">
              <a:lnSpc>
                <a:spcPct val="100000"/>
              </a:lnSpc>
              <a:spcBef>
                <a:spcPts val="0"/>
              </a:spcBef>
              <a:buNone/>
              <a:defRPr b="0" i="0" sz="350">
                <a:solidFill>
                  <a:srgbClr val="5B6F83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12700">
              <a:lnSpc>
                <a:spcPct val="100000"/>
              </a:lnSpc>
              <a:spcBef>
                <a:spcPts val="0"/>
              </a:spcBef>
              <a:buNone/>
              <a:defRPr b="0" i="0" sz="350">
                <a:solidFill>
                  <a:srgbClr val="5B6F83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12700">
              <a:lnSpc>
                <a:spcPct val="100000"/>
              </a:lnSpc>
              <a:spcBef>
                <a:spcPts val="0"/>
              </a:spcBef>
              <a:buNone/>
              <a:defRPr b="0" i="0" sz="350">
                <a:solidFill>
                  <a:srgbClr val="5B6F83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12700">
              <a:lnSpc>
                <a:spcPct val="100000"/>
              </a:lnSpc>
              <a:spcBef>
                <a:spcPts val="0"/>
              </a:spcBef>
              <a:buNone/>
              <a:defRPr b="0" i="0" sz="350">
                <a:solidFill>
                  <a:srgbClr val="5B6F83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12700">
              <a:lnSpc>
                <a:spcPct val="100000"/>
              </a:lnSpc>
              <a:spcBef>
                <a:spcPts val="0"/>
              </a:spcBef>
              <a:buNone/>
              <a:defRPr b="0" i="0" sz="350">
                <a:solidFill>
                  <a:srgbClr val="5B6F83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12700">
              <a:lnSpc>
                <a:spcPct val="100000"/>
              </a:lnSpc>
              <a:spcBef>
                <a:spcPts val="0"/>
              </a:spcBef>
              <a:buNone/>
              <a:defRPr b="0" i="0" sz="350">
                <a:solidFill>
                  <a:srgbClr val="5B6F83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Equipe Phi • Grani te 3. 1 MoE • </a:t>
            </a:r>
            <a:fld id="{00000000-1234-1234-1234-123412341234}" type="slidenum">
              <a:rPr lang="en-US"/>
              <a:t>‹#›</a:t>
            </a:fld>
            <a:r>
              <a:rPr lang="en-US"/>
              <a:t>/3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Relationship Id="rId4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Relationship Id="rId4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chart" Target="../charts/chart1.xml"/><Relationship Id="rId4" Type="http://schemas.openxmlformats.org/officeDocument/2006/relationships/chart" Target="../charts/chart2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chart" Target="../charts/chart3.xml"/><Relationship Id="rId4" Type="http://schemas.openxmlformats.org/officeDocument/2006/relationships/chart" Target="../charts/chart4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chart" Target="../charts/chart5.xml"/><Relationship Id="rId4" Type="http://schemas.openxmlformats.org/officeDocument/2006/relationships/chart" Target="../charts/chart6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g3fb66b3fc85_1_7"/>
          <p:cNvSpPr/>
          <p:nvPr/>
        </p:nvSpPr>
        <p:spPr>
          <a:xfrm>
            <a:off x="762000" y="401425"/>
            <a:ext cx="10668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102A43"/>
                </a:solidFill>
              </a:rPr>
              <a:t>Sistemas Operacionais  GT 08 - Trilha A - OIlama + OpenWebUI</a:t>
            </a:r>
            <a:endParaRPr/>
          </a:p>
        </p:txBody>
      </p:sp>
      <p:sp>
        <p:nvSpPr>
          <p:cNvPr id="32" name="Google Shape;32;g3fb66b3fc85_1_7"/>
          <p:cNvSpPr/>
          <p:nvPr/>
        </p:nvSpPr>
        <p:spPr>
          <a:xfrm>
            <a:off x="854525" y="947050"/>
            <a:ext cx="800100" cy="57300"/>
          </a:xfrm>
          <a:prstGeom prst="rect">
            <a:avLst/>
          </a:prstGeom>
          <a:solidFill>
            <a:srgbClr val="1877C9"/>
          </a:solidFill>
          <a:ln cap="flat" cmpd="sng" w="9525">
            <a:solidFill>
              <a:srgbClr val="1877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g3fb66b3fc85_1_7"/>
          <p:cNvSpPr/>
          <p:nvPr/>
        </p:nvSpPr>
        <p:spPr>
          <a:xfrm>
            <a:off x="609600" y="6515100"/>
            <a:ext cx="64770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62">
                <a:solidFill>
                  <a:srgbClr val="5B7083"/>
                </a:solidFill>
                <a:latin typeface="Arial"/>
                <a:ea typeface="Arial"/>
                <a:cs typeface="Arial"/>
                <a:sym typeface="Arial"/>
              </a:rPr>
              <a:t>Equipe Phi  •  Granite 3.1 MoE  •  1/3</a:t>
            </a:r>
            <a:endParaRPr/>
          </a:p>
        </p:txBody>
      </p:sp>
      <p:sp>
        <p:nvSpPr>
          <p:cNvPr id="34" name="Google Shape;34;g3fb66b3fc85_1_7"/>
          <p:cNvSpPr/>
          <p:nvPr/>
        </p:nvSpPr>
        <p:spPr>
          <a:xfrm>
            <a:off x="7696200" y="5286375"/>
            <a:ext cx="29217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646">
                <a:solidFill>
                  <a:srgbClr val="172B4D"/>
                </a:solidFill>
              </a:rPr>
              <a:t>Mini arquitetura do projeto</a:t>
            </a:r>
            <a:endParaRPr sz="1800"/>
          </a:p>
        </p:txBody>
      </p:sp>
      <p:sp>
        <p:nvSpPr>
          <p:cNvPr id="35" name="Google Shape;35;g3fb66b3fc85_1_7"/>
          <p:cNvSpPr txBox="1"/>
          <p:nvPr/>
        </p:nvSpPr>
        <p:spPr>
          <a:xfrm>
            <a:off x="500650" y="1295700"/>
            <a:ext cx="4440600" cy="38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/>
              <a:t>O objetivo do estudo é nortear quais a relações de configuração do modelo, camada de aplicação, quantização e </a:t>
            </a:r>
            <a:r>
              <a:rPr lang="en-US" sz="1800"/>
              <a:t>parâmetros</a:t>
            </a:r>
            <a:r>
              <a:rPr lang="en-US" sz="1800"/>
              <a:t> </a:t>
            </a:r>
            <a:r>
              <a:rPr lang="en-US" sz="1800"/>
              <a:t>influenciam</a:t>
            </a:r>
            <a:r>
              <a:rPr lang="en-US" sz="1800"/>
              <a:t> os recursos computacionais do SO.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/>
              <a:t>Arquitetura é composta pela Windows System Linux para a instação do linux.</a:t>
            </a:r>
            <a:endParaRPr sz="18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US" sz="2200"/>
              <a:t> </a:t>
            </a:r>
            <a:r>
              <a:rPr lang="en-US" sz="1800"/>
              <a:t>Hardware utilizado: WSL2, Ubuntu 26.04, Kernel 6.18, CPU XEON, 16GB ram e RTX 3060 de 12 giga CUDA.</a:t>
            </a:r>
            <a:endParaRPr sz="2200"/>
          </a:p>
        </p:txBody>
      </p:sp>
      <p:pic>
        <p:nvPicPr>
          <p:cNvPr id="36" name="Google Shape;36;g3fb66b3fc85_1_7" title="Sem título-2026-09-06-2318 (2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53525" y="1234201"/>
            <a:ext cx="6706703" cy="390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3fb66b3fc85_1_48"/>
          <p:cNvSpPr/>
          <p:nvPr/>
        </p:nvSpPr>
        <p:spPr>
          <a:xfrm>
            <a:off x="609600" y="685800"/>
            <a:ext cx="10668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102A43"/>
                </a:solidFill>
              </a:rPr>
              <a:t>Modelo Escolhido: - Granite 3.1 - 3B - A800M - Instruct</a:t>
            </a:r>
            <a:endParaRPr/>
          </a:p>
        </p:txBody>
      </p:sp>
      <p:sp>
        <p:nvSpPr>
          <p:cNvPr id="43" name="Google Shape;43;g3fb66b3fc85_1_48"/>
          <p:cNvSpPr/>
          <p:nvPr/>
        </p:nvSpPr>
        <p:spPr>
          <a:xfrm>
            <a:off x="609600" y="1257300"/>
            <a:ext cx="800100" cy="57300"/>
          </a:xfrm>
          <a:prstGeom prst="rect">
            <a:avLst/>
          </a:prstGeom>
          <a:solidFill>
            <a:srgbClr val="1877C9"/>
          </a:solidFill>
          <a:ln cap="flat" cmpd="sng" w="9525">
            <a:solidFill>
              <a:srgbClr val="1877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4" name="Google Shape;44;g3fb66b3fc85_1_48" title="images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06050" y="1004375"/>
            <a:ext cx="5016469" cy="5238600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g3fb66b3fc85_1_48"/>
          <p:cNvSpPr txBox="1"/>
          <p:nvPr/>
        </p:nvSpPr>
        <p:spPr>
          <a:xfrm>
            <a:off x="938950" y="2561675"/>
            <a:ext cx="55671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Modelo pequeno com grande potência.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Arquitetura MoE ( Mixture of Experts ), com subdivisões em suas redes </a:t>
            </a:r>
            <a:r>
              <a:rPr lang="en-US" sz="1800">
                <a:solidFill>
                  <a:schemeClr val="dk1"/>
                </a:solidFill>
              </a:rPr>
              <a:t>neurais</a:t>
            </a:r>
            <a:r>
              <a:rPr lang="en-US" sz="1800">
                <a:solidFill>
                  <a:schemeClr val="dk1"/>
                </a:solidFill>
              </a:rPr>
              <a:t> contendo redes experts em diferentes problemas.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Modelo que performou de forma consistente em diferentes máquinas dos membros do grupo por conta disso.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fb66b3fc85_1_78"/>
          <p:cNvSpPr/>
          <p:nvPr/>
        </p:nvSpPr>
        <p:spPr>
          <a:xfrm>
            <a:off x="609600" y="685800"/>
            <a:ext cx="10668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102A43"/>
                </a:solidFill>
              </a:rPr>
              <a:t>Metodologia escolhida e obtenção das métricas.</a:t>
            </a:r>
            <a:endParaRPr/>
          </a:p>
        </p:txBody>
      </p:sp>
      <p:sp>
        <p:nvSpPr>
          <p:cNvPr id="52" name="Google Shape;52;g3fb66b3fc85_1_78"/>
          <p:cNvSpPr/>
          <p:nvPr/>
        </p:nvSpPr>
        <p:spPr>
          <a:xfrm>
            <a:off x="609600" y="1257300"/>
            <a:ext cx="800100" cy="57300"/>
          </a:xfrm>
          <a:prstGeom prst="rect">
            <a:avLst/>
          </a:prstGeom>
          <a:solidFill>
            <a:srgbClr val="1877C9"/>
          </a:solidFill>
          <a:ln cap="flat" cmpd="sng" w="9525">
            <a:solidFill>
              <a:srgbClr val="1877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g3fb66b3fc85_1_78"/>
          <p:cNvSpPr txBox="1"/>
          <p:nvPr/>
        </p:nvSpPr>
        <p:spPr>
          <a:xfrm>
            <a:off x="922625" y="1981350"/>
            <a:ext cx="65766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</a:rPr>
              <a:t>Realização de 3 configurações experimentais.</a:t>
            </a:r>
            <a:endParaRPr b="1" sz="20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54" name="Google Shape;54;g3fb66b3fc85_1_78" title="1861012-data-analysis-magnifier-dotted-line-chart-marketing-flat-icon-gratis-vetor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61225" y="1314600"/>
            <a:ext cx="4771549" cy="4771549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g3fb66b3fc85_1_78"/>
          <p:cNvSpPr txBox="1"/>
          <p:nvPr/>
        </p:nvSpPr>
        <p:spPr>
          <a:xfrm>
            <a:off x="922625" y="2878275"/>
            <a:ext cx="94053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b="1" lang="en-US" sz="1500"/>
              <a:t>Execução Padrão, utilizando cinco perguntas enviadas</a:t>
            </a:r>
            <a:br>
              <a:rPr b="1" lang="en-US" sz="1500"/>
            </a:br>
            <a:r>
              <a:rPr b="1" lang="en-US" sz="1500"/>
              <a:t>sequencialmente, uma por vez.</a:t>
            </a:r>
            <a:endParaRPr b="1"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b="1" lang="en-US" sz="1500"/>
              <a:t>A segunda foi teste de concorrência, em que enviamos requisições </a:t>
            </a:r>
            <a:br>
              <a:rPr b="1" lang="en-US" sz="1500"/>
            </a:br>
            <a:r>
              <a:rPr b="1" lang="en-US" sz="1500"/>
              <a:t>de 2 até 12 </a:t>
            </a:r>
            <a:r>
              <a:rPr b="1" lang="en-US" sz="1500"/>
              <a:t>requisições</a:t>
            </a:r>
            <a:r>
              <a:rPr b="1" lang="en-US" sz="1500"/>
              <a:t> </a:t>
            </a:r>
            <a:r>
              <a:rPr b="1" lang="en-US" sz="1500"/>
              <a:t>simultâneas</a:t>
            </a:r>
            <a:r>
              <a:rPr b="1" lang="en-US" sz="1500"/>
              <a:t>, aumentando a unidade</a:t>
            </a:r>
            <a:br>
              <a:rPr b="1" lang="en-US" sz="1500"/>
            </a:br>
            <a:r>
              <a:rPr b="1" lang="en-US" sz="1500"/>
              <a:t>de tempo.</a:t>
            </a:r>
            <a:endParaRPr b="1"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b="1" lang="en-US" sz="1500"/>
              <a:t>Compração direta entre CPU e GPU, mantendo o mesmo modelo e deixando</a:t>
            </a:r>
            <a:br>
              <a:rPr b="1" lang="en-US" sz="1500"/>
            </a:br>
            <a:r>
              <a:rPr b="1" lang="en-US" sz="1500"/>
              <a:t>somente a disponibilidade da CPU</a:t>
            </a:r>
            <a:br>
              <a:rPr b="1" lang="en-US" sz="1500"/>
            </a:br>
            <a:endParaRPr b="1" sz="15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fb66b3fc85_1_89"/>
          <p:cNvSpPr/>
          <p:nvPr/>
        </p:nvSpPr>
        <p:spPr>
          <a:xfrm>
            <a:off x="609600" y="685800"/>
            <a:ext cx="10668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102A43"/>
                </a:solidFill>
              </a:rPr>
              <a:t>Metodologia escolhida e obtenção das métricas.</a:t>
            </a:r>
            <a:endParaRPr/>
          </a:p>
        </p:txBody>
      </p:sp>
      <p:sp>
        <p:nvSpPr>
          <p:cNvPr id="62" name="Google Shape;62;g3fb66b3fc85_1_89"/>
          <p:cNvSpPr/>
          <p:nvPr/>
        </p:nvSpPr>
        <p:spPr>
          <a:xfrm>
            <a:off x="609600" y="1257300"/>
            <a:ext cx="800100" cy="57300"/>
          </a:xfrm>
          <a:prstGeom prst="rect">
            <a:avLst/>
          </a:prstGeom>
          <a:solidFill>
            <a:srgbClr val="1877C9"/>
          </a:solidFill>
          <a:ln cap="flat" cmpd="sng" w="9525">
            <a:solidFill>
              <a:srgbClr val="1877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g3fb66b3fc85_1_89"/>
          <p:cNvSpPr txBox="1"/>
          <p:nvPr/>
        </p:nvSpPr>
        <p:spPr>
          <a:xfrm>
            <a:off x="922625" y="2239400"/>
            <a:ext cx="65766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</a:rPr>
              <a:t>Coleta de Métricas</a:t>
            </a:r>
            <a:endParaRPr b="1" sz="20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64" name="Google Shape;64;g3fb66b3fc85_1_89" title="1861012-data-analysis-magnifier-dotted-line-chart-marketing-flat-icon-gratis-vetor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61225" y="1314600"/>
            <a:ext cx="4771549" cy="4771549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g3fb66b3fc85_1_89"/>
          <p:cNvSpPr txBox="1"/>
          <p:nvPr/>
        </p:nvSpPr>
        <p:spPr>
          <a:xfrm>
            <a:off x="922625" y="3008900"/>
            <a:ext cx="68217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b="1" lang="en-US" sz="1500"/>
              <a:t>Para realizar as medições, utilizamos scripts em Python para controlar e cronometrar as requisições.</a:t>
            </a:r>
            <a:endParaRPr b="1"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b="1" lang="en-US" sz="1500"/>
              <a:t>utilizamos o docker stats para CPU e memória, o nvidia-smi para GPU e VRAM, além do ps eLf e do strace para analisar processos, threads e chamadas de sistema.</a:t>
            </a:r>
            <a:endParaRPr b="1" sz="15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fb6e6f24db_1_1"/>
          <p:cNvSpPr txBox="1"/>
          <p:nvPr/>
        </p:nvSpPr>
        <p:spPr>
          <a:xfrm>
            <a:off x="688975" y="414337"/>
            <a:ext cx="929700" cy="1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50">
                <a:solidFill>
                  <a:srgbClr val="1777C8"/>
                </a:solidFill>
                <a:latin typeface="Trebuchet MS"/>
                <a:ea typeface="Trebuchet MS"/>
                <a:cs typeface="Trebuchet MS"/>
                <a:sym typeface="Trebuchet MS"/>
              </a:rPr>
              <a:t>Evidências do Sistema</a:t>
            </a:r>
            <a:endParaRPr sz="65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descr="$PPTXTitle" id="71" name="Google Shape;71;g3fb6e6f24db_1_1"/>
          <p:cNvSpPr txBox="1"/>
          <p:nvPr>
            <p:ph type="title"/>
          </p:nvPr>
        </p:nvSpPr>
        <p:spPr>
          <a:xfrm>
            <a:off x="650875" y="700405"/>
            <a:ext cx="9485100" cy="6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01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O escalonador do Linux distribui cada uma dessas threads entre os núcleos do processador</a:t>
            </a:r>
            <a:endParaRPr sz="1800"/>
          </a:p>
        </p:txBody>
      </p:sp>
      <p:grpSp>
        <p:nvGrpSpPr>
          <p:cNvPr id="72" name="Google Shape;72;g3fb6e6f24db_1_1"/>
          <p:cNvGrpSpPr/>
          <p:nvPr/>
        </p:nvGrpSpPr>
        <p:grpSpPr>
          <a:xfrm>
            <a:off x="614362" y="1262125"/>
            <a:ext cx="800100" cy="57150"/>
            <a:chOff x="614362" y="1262125"/>
            <a:chExt cx="800100" cy="57150"/>
          </a:xfrm>
        </p:grpSpPr>
        <p:sp>
          <p:nvSpPr>
            <p:cNvPr id="73" name="Google Shape;73;g3fb6e6f24db_1_1"/>
            <p:cNvSpPr/>
            <p:nvPr/>
          </p:nvSpPr>
          <p:spPr>
            <a:xfrm>
              <a:off x="614362" y="1262125"/>
              <a:ext cx="800100" cy="57150"/>
            </a:xfrm>
            <a:custGeom>
              <a:rect b="b" l="l" r="r" t="t"/>
              <a:pathLst>
                <a:path extrusionOk="0" h="57150" w="800100">
                  <a:moveTo>
                    <a:pt x="800100" y="0"/>
                  </a:moveTo>
                  <a:lnTo>
                    <a:pt x="0" y="0"/>
                  </a:lnTo>
                  <a:lnTo>
                    <a:pt x="0" y="57150"/>
                  </a:lnTo>
                  <a:lnTo>
                    <a:pt x="800100" y="57150"/>
                  </a:lnTo>
                  <a:lnTo>
                    <a:pt x="800100" y="0"/>
                  </a:lnTo>
                  <a:close/>
                </a:path>
              </a:pathLst>
            </a:custGeom>
            <a:solidFill>
              <a:srgbClr val="1777C8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g3fb6e6f24db_1_1"/>
            <p:cNvSpPr/>
            <p:nvPr/>
          </p:nvSpPr>
          <p:spPr>
            <a:xfrm>
              <a:off x="614362" y="1262125"/>
              <a:ext cx="800100" cy="57150"/>
            </a:xfrm>
            <a:custGeom>
              <a:rect b="b" l="l" r="r" t="t"/>
              <a:pathLst>
                <a:path extrusionOk="0" h="57150" w="800100">
                  <a:moveTo>
                    <a:pt x="0" y="57150"/>
                  </a:moveTo>
                  <a:lnTo>
                    <a:pt x="800100" y="57150"/>
                  </a:lnTo>
                  <a:lnTo>
                    <a:pt x="800100" y="0"/>
                  </a:lnTo>
                  <a:lnTo>
                    <a:pt x="0" y="0"/>
                  </a:lnTo>
                  <a:lnTo>
                    <a:pt x="0" y="57150"/>
                  </a:lnTo>
                  <a:close/>
                </a:path>
              </a:pathLst>
            </a:custGeom>
            <a:noFill/>
            <a:ln cap="flat" cmpd="sng" w="9525">
              <a:solidFill>
                <a:srgbClr val="1777C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5" name="Google Shape;75;g3fb6e6f24db_1_1"/>
          <p:cNvSpPr txBox="1"/>
          <p:nvPr/>
        </p:nvSpPr>
        <p:spPr>
          <a:xfrm>
            <a:off x="2295270" y="6032500"/>
            <a:ext cx="1795200" cy="2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50">
                <a:solidFill>
                  <a:srgbClr val="1777C8"/>
                </a:solidFill>
                <a:latin typeface="Trebuchet MS"/>
                <a:ea typeface="Trebuchet MS"/>
                <a:cs typeface="Trebuchet MS"/>
                <a:sym typeface="Trebuchet MS"/>
              </a:rPr>
              <a:t>ollama-cpu - 35 threads</a:t>
            </a:r>
            <a:endParaRPr sz="125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76" name="Google Shape;76;g3fb6e6f24db_1_1"/>
          <p:cNvSpPr txBox="1"/>
          <p:nvPr/>
        </p:nvSpPr>
        <p:spPr>
          <a:xfrm>
            <a:off x="8036559" y="6042025"/>
            <a:ext cx="1788900" cy="2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50">
                <a:solidFill>
                  <a:srgbClr val="E26B2C"/>
                </a:solidFill>
                <a:latin typeface="Trebuchet MS"/>
                <a:ea typeface="Trebuchet MS"/>
                <a:cs typeface="Trebuchet MS"/>
                <a:sym typeface="Trebuchet MS"/>
              </a:rPr>
              <a:t>ollama-gpu - 36 threads</a:t>
            </a:r>
            <a:endParaRPr sz="125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77" name="Google Shape;77;g3fb6e6f24db_1_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9743" y="1530843"/>
            <a:ext cx="4601344" cy="4418017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g3fb6e6f24db_1_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22476" y="1488696"/>
            <a:ext cx="4602220" cy="438174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9" name="Google Shape;79;g3fb6e6f24db_1_1"/>
          <p:cNvGrpSpPr/>
          <p:nvPr/>
        </p:nvGrpSpPr>
        <p:grpSpPr>
          <a:xfrm>
            <a:off x="5805550" y="1509712"/>
            <a:ext cx="57150" cy="4429125"/>
            <a:chOff x="5805550" y="1509712"/>
            <a:chExt cx="57150" cy="4429125"/>
          </a:xfrm>
        </p:grpSpPr>
        <p:sp>
          <p:nvSpPr>
            <p:cNvPr id="80" name="Google Shape;80;g3fb6e6f24db_1_1"/>
            <p:cNvSpPr/>
            <p:nvPr/>
          </p:nvSpPr>
          <p:spPr>
            <a:xfrm>
              <a:off x="5805550" y="1509712"/>
              <a:ext cx="57150" cy="4429125"/>
            </a:xfrm>
            <a:custGeom>
              <a:rect b="b" l="l" r="r" t="t"/>
              <a:pathLst>
                <a:path extrusionOk="0" h="4429125" w="57150">
                  <a:moveTo>
                    <a:pt x="57150" y="0"/>
                  </a:moveTo>
                  <a:lnTo>
                    <a:pt x="0" y="0"/>
                  </a:lnTo>
                  <a:lnTo>
                    <a:pt x="0" y="4429125"/>
                  </a:lnTo>
                  <a:lnTo>
                    <a:pt x="57150" y="4429125"/>
                  </a:lnTo>
                  <a:lnTo>
                    <a:pt x="57150" y="0"/>
                  </a:lnTo>
                  <a:close/>
                </a:path>
              </a:pathLst>
            </a:custGeom>
            <a:solidFill>
              <a:srgbClr val="1777C8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g3fb6e6f24db_1_1"/>
            <p:cNvSpPr/>
            <p:nvPr/>
          </p:nvSpPr>
          <p:spPr>
            <a:xfrm>
              <a:off x="5805550" y="1509712"/>
              <a:ext cx="57150" cy="4429125"/>
            </a:xfrm>
            <a:custGeom>
              <a:rect b="b" l="l" r="r" t="t"/>
              <a:pathLst>
                <a:path extrusionOk="0" h="4429125" w="57150">
                  <a:moveTo>
                    <a:pt x="0" y="4429125"/>
                  </a:moveTo>
                  <a:lnTo>
                    <a:pt x="57150" y="4429125"/>
                  </a:lnTo>
                  <a:lnTo>
                    <a:pt x="57150" y="0"/>
                  </a:lnTo>
                  <a:lnTo>
                    <a:pt x="0" y="0"/>
                  </a:lnTo>
                  <a:lnTo>
                    <a:pt x="0" y="4429125"/>
                  </a:lnTo>
                  <a:close/>
                </a:path>
              </a:pathLst>
            </a:custGeom>
            <a:noFill/>
            <a:ln cap="flat" cmpd="sng" w="9525">
              <a:solidFill>
                <a:srgbClr val="1777C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fb6e6f24db_1_57"/>
          <p:cNvSpPr txBox="1"/>
          <p:nvPr/>
        </p:nvSpPr>
        <p:spPr>
          <a:xfrm>
            <a:off x="688975" y="404812"/>
            <a:ext cx="741000" cy="1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0">
                <a:solidFill>
                  <a:srgbClr val="1777C8"/>
                </a:solidFill>
                <a:latin typeface="Trebuchet MS"/>
                <a:ea typeface="Trebuchet MS"/>
                <a:cs typeface="Trebuchet MS"/>
                <a:sym typeface="Trebuchet MS"/>
              </a:rPr>
              <a:t>CPU e Memória</a:t>
            </a:r>
            <a:endParaRPr sz="8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descr="$PPTXTitle" id="87" name="Google Shape;87;g3fb6e6f24db_1_57"/>
          <p:cNvSpPr txBox="1"/>
          <p:nvPr>
            <p:ph type="title"/>
          </p:nvPr>
        </p:nvSpPr>
        <p:spPr>
          <a:xfrm>
            <a:off x="650875" y="700405"/>
            <a:ext cx="94851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50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Uso de CPU e Memória</a:t>
            </a:r>
            <a:endParaRPr/>
          </a:p>
        </p:txBody>
      </p:sp>
      <p:grpSp>
        <p:nvGrpSpPr>
          <p:cNvPr id="88" name="Google Shape;88;g3fb6e6f24db_1_57"/>
          <p:cNvGrpSpPr/>
          <p:nvPr/>
        </p:nvGrpSpPr>
        <p:grpSpPr>
          <a:xfrm>
            <a:off x="614362" y="1262125"/>
            <a:ext cx="800100" cy="57150"/>
            <a:chOff x="614362" y="1262125"/>
            <a:chExt cx="800100" cy="57150"/>
          </a:xfrm>
        </p:grpSpPr>
        <p:sp>
          <p:nvSpPr>
            <p:cNvPr id="89" name="Google Shape;89;g3fb6e6f24db_1_57"/>
            <p:cNvSpPr/>
            <p:nvPr/>
          </p:nvSpPr>
          <p:spPr>
            <a:xfrm>
              <a:off x="614362" y="1262125"/>
              <a:ext cx="800100" cy="57150"/>
            </a:xfrm>
            <a:custGeom>
              <a:rect b="b" l="l" r="r" t="t"/>
              <a:pathLst>
                <a:path extrusionOk="0" h="57150" w="800100">
                  <a:moveTo>
                    <a:pt x="800100" y="0"/>
                  </a:moveTo>
                  <a:lnTo>
                    <a:pt x="0" y="0"/>
                  </a:lnTo>
                  <a:lnTo>
                    <a:pt x="0" y="57150"/>
                  </a:lnTo>
                  <a:lnTo>
                    <a:pt x="800100" y="57150"/>
                  </a:lnTo>
                  <a:lnTo>
                    <a:pt x="800100" y="0"/>
                  </a:lnTo>
                  <a:close/>
                </a:path>
              </a:pathLst>
            </a:custGeom>
            <a:solidFill>
              <a:srgbClr val="1777C8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g3fb6e6f24db_1_57"/>
            <p:cNvSpPr/>
            <p:nvPr/>
          </p:nvSpPr>
          <p:spPr>
            <a:xfrm>
              <a:off x="614362" y="1262125"/>
              <a:ext cx="800100" cy="57150"/>
            </a:xfrm>
            <a:custGeom>
              <a:rect b="b" l="l" r="r" t="t"/>
              <a:pathLst>
                <a:path extrusionOk="0" h="57150" w="800100">
                  <a:moveTo>
                    <a:pt x="0" y="57150"/>
                  </a:moveTo>
                  <a:lnTo>
                    <a:pt x="800100" y="57150"/>
                  </a:lnTo>
                  <a:lnTo>
                    <a:pt x="800100" y="0"/>
                  </a:lnTo>
                  <a:lnTo>
                    <a:pt x="0" y="0"/>
                  </a:lnTo>
                  <a:lnTo>
                    <a:pt x="0" y="57150"/>
                  </a:lnTo>
                  <a:close/>
                </a:path>
              </a:pathLst>
            </a:custGeom>
            <a:noFill/>
            <a:ln cap="flat" cmpd="sng" w="9525">
              <a:solidFill>
                <a:srgbClr val="1777C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1" name="Google Shape;91;g3fb6e6f24db_1_57"/>
          <p:cNvSpPr txBox="1"/>
          <p:nvPr/>
        </p:nvSpPr>
        <p:spPr>
          <a:xfrm>
            <a:off x="498157" y="5440997"/>
            <a:ext cx="5529600" cy="2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50">
                <a:solidFill>
                  <a:srgbClr val="0F2A43"/>
                </a:solidFill>
                <a:latin typeface="Trebuchet MS"/>
                <a:ea typeface="Trebuchet MS"/>
                <a:cs typeface="Trebuchet MS"/>
                <a:sym typeface="Trebuchet MS"/>
              </a:rPr>
              <a:t>CPU consome bem mais RAM porque precisa guardar o modelo inteiro ali.</a:t>
            </a:r>
            <a:endParaRPr sz="125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descr="cpu_pico_vs_concorrencia.png" id="92" name="Google Shape;92;g3fb6e6f24db_1_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6218" y="1683499"/>
            <a:ext cx="5600986" cy="34243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mem_pico_vs_concorrencia.png" id="93" name="Google Shape;93;g3fb6e6f24db_1_5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22110" y="1683207"/>
            <a:ext cx="5605844" cy="34153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fb6e6f24db_1_108"/>
          <p:cNvSpPr txBox="1"/>
          <p:nvPr/>
        </p:nvSpPr>
        <p:spPr>
          <a:xfrm>
            <a:off x="688975" y="414337"/>
            <a:ext cx="607800" cy="1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50">
                <a:solidFill>
                  <a:srgbClr val="1777C8"/>
                </a:solidFill>
                <a:latin typeface="Trebuchet MS"/>
                <a:ea typeface="Trebuchet MS"/>
                <a:cs typeface="Trebuchet MS"/>
                <a:sym typeface="Trebuchet MS"/>
              </a:rPr>
              <a:t>GPU e STRACE</a:t>
            </a:r>
            <a:endParaRPr sz="65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descr="$PPTXTitle" id="99" name="Google Shape;99;g3fb6e6f24db_1_108"/>
          <p:cNvSpPr txBox="1"/>
          <p:nvPr>
            <p:ph type="title"/>
          </p:nvPr>
        </p:nvSpPr>
        <p:spPr>
          <a:xfrm>
            <a:off x="650875" y="700405"/>
            <a:ext cx="94851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50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Uso da GPU e STRACE</a:t>
            </a:r>
            <a:endParaRPr/>
          </a:p>
        </p:txBody>
      </p:sp>
      <p:grpSp>
        <p:nvGrpSpPr>
          <p:cNvPr id="100" name="Google Shape;100;g3fb6e6f24db_1_108"/>
          <p:cNvGrpSpPr/>
          <p:nvPr/>
        </p:nvGrpSpPr>
        <p:grpSpPr>
          <a:xfrm>
            <a:off x="614362" y="1262125"/>
            <a:ext cx="800100" cy="57150"/>
            <a:chOff x="614362" y="1262125"/>
            <a:chExt cx="800100" cy="57150"/>
          </a:xfrm>
        </p:grpSpPr>
        <p:sp>
          <p:nvSpPr>
            <p:cNvPr id="101" name="Google Shape;101;g3fb6e6f24db_1_108"/>
            <p:cNvSpPr/>
            <p:nvPr/>
          </p:nvSpPr>
          <p:spPr>
            <a:xfrm>
              <a:off x="614362" y="1262125"/>
              <a:ext cx="800100" cy="57150"/>
            </a:xfrm>
            <a:custGeom>
              <a:rect b="b" l="l" r="r" t="t"/>
              <a:pathLst>
                <a:path extrusionOk="0" h="57150" w="800100">
                  <a:moveTo>
                    <a:pt x="800100" y="0"/>
                  </a:moveTo>
                  <a:lnTo>
                    <a:pt x="0" y="0"/>
                  </a:lnTo>
                  <a:lnTo>
                    <a:pt x="0" y="57150"/>
                  </a:lnTo>
                  <a:lnTo>
                    <a:pt x="800100" y="57150"/>
                  </a:lnTo>
                  <a:lnTo>
                    <a:pt x="800100" y="0"/>
                  </a:lnTo>
                  <a:close/>
                </a:path>
              </a:pathLst>
            </a:custGeom>
            <a:solidFill>
              <a:srgbClr val="1777C8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g3fb6e6f24db_1_108"/>
            <p:cNvSpPr/>
            <p:nvPr/>
          </p:nvSpPr>
          <p:spPr>
            <a:xfrm>
              <a:off x="614362" y="1262125"/>
              <a:ext cx="800100" cy="57150"/>
            </a:xfrm>
            <a:custGeom>
              <a:rect b="b" l="l" r="r" t="t"/>
              <a:pathLst>
                <a:path extrusionOk="0" h="57150" w="800100">
                  <a:moveTo>
                    <a:pt x="0" y="57150"/>
                  </a:moveTo>
                  <a:lnTo>
                    <a:pt x="800100" y="57150"/>
                  </a:lnTo>
                  <a:lnTo>
                    <a:pt x="800100" y="0"/>
                  </a:lnTo>
                  <a:lnTo>
                    <a:pt x="0" y="0"/>
                  </a:lnTo>
                  <a:lnTo>
                    <a:pt x="0" y="57150"/>
                  </a:lnTo>
                  <a:close/>
                </a:path>
              </a:pathLst>
            </a:custGeom>
            <a:noFill/>
            <a:ln cap="flat" cmpd="sng" w="9525">
              <a:solidFill>
                <a:srgbClr val="1777C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g3fb6e6f24db_1_108"/>
          <p:cNvSpPr txBox="1"/>
          <p:nvPr/>
        </p:nvSpPr>
        <p:spPr>
          <a:xfrm>
            <a:off x="688975" y="5822632"/>
            <a:ext cx="8138700" cy="4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250">
                <a:solidFill>
                  <a:srgbClr val="172B4D"/>
                </a:solidFill>
                <a:latin typeface="Trebuchet MS"/>
                <a:ea typeface="Trebuchet MS"/>
                <a:cs typeface="Trebuchet MS"/>
                <a:sym typeface="Trebuchet MS"/>
              </a:rPr>
              <a:t>O sistema operacional está o tempo todo escalonando threads, gerenciando memória e arbitrando o acesso à GPU</a:t>
            </a:r>
            <a:endParaRPr sz="125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04" name="Google Shape;104;g3fb6e6f24db_1_10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7918" y="2030605"/>
            <a:ext cx="4433971" cy="299808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g3fb6e6f24db_1_10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21409" y="2122913"/>
            <a:ext cx="4608783" cy="28121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"/>
          <p:cNvSpPr/>
          <p:nvPr/>
        </p:nvSpPr>
        <p:spPr>
          <a:xfrm>
            <a:off x="609600" y="400050"/>
            <a:ext cx="10287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50">
                <a:solidFill>
                  <a:srgbClr val="1877C9"/>
                </a:solidFill>
                <a:latin typeface="Arial"/>
                <a:ea typeface="Arial"/>
                <a:cs typeface="Arial"/>
                <a:sym typeface="Arial"/>
              </a:rPr>
              <a:t>RESULTADOS SEQUENCIAIS</a:t>
            </a:r>
            <a:endParaRPr sz="2000"/>
          </a:p>
        </p:txBody>
      </p:sp>
      <p:sp>
        <p:nvSpPr>
          <p:cNvPr id="112" name="Google Shape;112;p1"/>
          <p:cNvSpPr/>
          <p:nvPr/>
        </p:nvSpPr>
        <p:spPr>
          <a:xfrm>
            <a:off x="609600" y="685800"/>
            <a:ext cx="10668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GPU reduz o tempo e aumenta a velocidade de geração</a:t>
            </a:r>
            <a:endParaRPr/>
          </a:p>
        </p:txBody>
      </p:sp>
      <p:sp>
        <p:nvSpPr>
          <p:cNvPr id="113" name="Google Shape;113;p1"/>
          <p:cNvSpPr/>
          <p:nvPr/>
        </p:nvSpPr>
        <p:spPr>
          <a:xfrm>
            <a:off x="609600" y="1257300"/>
            <a:ext cx="800100" cy="57150"/>
          </a:xfrm>
          <a:prstGeom prst="rect">
            <a:avLst/>
          </a:prstGeom>
          <a:solidFill>
            <a:srgbClr val="1877C9"/>
          </a:solidFill>
          <a:ln cap="flat" cmpd="sng" w="9525">
            <a:solidFill>
              <a:srgbClr val="1877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"/>
          <p:cNvSpPr/>
          <p:nvPr/>
        </p:nvSpPr>
        <p:spPr>
          <a:xfrm>
            <a:off x="609600" y="6257925"/>
            <a:ext cx="64770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62">
                <a:solidFill>
                  <a:srgbClr val="5B7083"/>
                </a:solidFill>
              </a:rPr>
              <a:t>Equipe 8 •  Granite 3.1 MoE  •  1/3</a:t>
            </a:r>
            <a:endParaRPr b="1" sz="2100"/>
          </a:p>
        </p:txBody>
      </p:sp>
      <p:sp>
        <p:nvSpPr>
          <p:cNvPr id="115" name="Google Shape;115;p1"/>
          <p:cNvSpPr/>
          <p:nvPr/>
        </p:nvSpPr>
        <p:spPr>
          <a:xfrm>
            <a:off x="609600" y="1466850"/>
            <a:ext cx="72390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75">
                <a:solidFill>
                  <a:srgbClr val="5B7083"/>
                </a:solidFill>
                <a:latin typeface="Arial"/>
                <a:ea typeface="Arial"/>
                <a:cs typeface="Arial"/>
                <a:sym typeface="Arial"/>
              </a:rPr>
              <a:t>Média de cinco perguntas, uma requisição por vez.</a:t>
            </a:r>
            <a:endParaRPr sz="2300"/>
          </a:p>
        </p:txBody>
      </p:sp>
      <p:graphicFrame>
        <p:nvGraphicFramePr>
          <p:cNvPr id="116" name="Google Shape;116;p1"/>
          <p:cNvGraphicFramePr/>
          <p:nvPr/>
        </p:nvGraphicFramePr>
        <p:xfrm>
          <a:off x="609600" y="1924050"/>
          <a:ext cx="4953000" cy="3000375"/>
        </p:xfrm>
        <a:graphic>
          <a:graphicData uri="http://schemas.openxmlformats.org/drawingml/2006/chart">
            <c:chart r:id="rId3"/>
          </a:graphicData>
        </a:graphic>
      </p:graphicFrame>
      <p:graphicFrame>
        <p:nvGraphicFramePr>
          <p:cNvPr id="117" name="Google Shape;117;p1"/>
          <p:cNvGraphicFramePr/>
          <p:nvPr/>
        </p:nvGraphicFramePr>
        <p:xfrm>
          <a:off x="6248400" y="1924050"/>
          <a:ext cx="4953000" cy="3000375"/>
        </p:xfrm>
        <a:graphic>
          <a:graphicData uri="http://schemas.openxmlformats.org/drawingml/2006/chart">
            <c:chart r:id="rId4"/>
          </a:graphicData>
        </a:graphic>
      </p:graphicFrame>
      <p:sp>
        <p:nvSpPr>
          <p:cNvPr id="118" name="Google Shape;118;p1"/>
          <p:cNvSpPr/>
          <p:nvPr/>
        </p:nvSpPr>
        <p:spPr>
          <a:xfrm>
            <a:off x="1581150" y="5429250"/>
            <a:ext cx="3810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50">
                <a:solidFill>
                  <a:srgbClr val="1877C9"/>
                </a:solidFill>
                <a:latin typeface="Arial"/>
                <a:ea typeface="Arial"/>
                <a:cs typeface="Arial"/>
                <a:sym typeface="Arial"/>
              </a:rPr>
              <a:t>GPU: 3,81× menos tempo</a:t>
            </a:r>
            <a:endParaRPr sz="1800"/>
          </a:p>
        </p:txBody>
      </p:sp>
      <p:sp>
        <p:nvSpPr>
          <p:cNvPr id="119" name="Google Shape;119;p1"/>
          <p:cNvSpPr/>
          <p:nvPr/>
        </p:nvSpPr>
        <p:spPr>
          <a:xfrm>
            <a:off x="7067550" y="5429250"/>
            <a:ext cx="3810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50">
                <a:solidFill>
                  <a:srgbClr val="E36B2C"/>
                </a:solidFill>
                <a:latin typeface="Arial"/>
                <a:ea typeface="Arial"/>
                <a:cs typeface="Arial"/>
                <a:sym typeface="Arial"/>
              </a:rPr>
              <a:t>GPU: 3,99× mais tokens/s</a:t>
            </a:r>
            <a:endParaRPr sz="1800"/>
          </a:p>
        </p:txBody>
      </p:sp>
      <p:sp>
        <p:nvSpPr>
          <p:cNvPr id="120" name="Google Shape;120;p1"/>
          <p:cNvSpPr/>
          <p:nvPr/>
        </p:nvSpPr>
        <p:spPr>
          <a:xfrm>
            <a:off x="609600" y="5972175"/>
            <a:ext cx="105727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746">
                <a:solidFill>
                  <a:srgbClr val="172B4D"/>
                </a:solidFill>
                <a:latin typeface="Arial"/>
                <a:ea typeface="Arial"/>
                <a:cs typeface="Arial"/>
                <a:sym typeface="Arial"/>
              </a:rPr>
              <a:t>Leitura: no mesmo modelo e prompt, a GPU entrega uma resposta perceptivelmente mais rápida.</a:t>
            </a:r>
            <a:endParaRPr sz="19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"/>
          <p:cNvSpPr/>
          <p:nvPr/>
        </p:nvSpPr>
        <p:spPr>
          <a:xfrm>
            <a:off x="609600" y="400050"/>
            <a:ext cx="10287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877C9"/>
                </a:solidFill>
                <a:latin typeface="Arial"/>
                <a:ea typeface="Arial"/>
                <a:cs typeface="Arial"/>
                <a:sym typeface="Arial"/>
              </a:rPr>
              <a:t>CONCORRÊNCIA E RESPONSIVIDADE</a:t>
            </a:r>
            <a:endParaRPr sz="1200"/>
          </a:p>
        </p:txBody>
      </p:sp>
      <p:sp>
        <p:nvSpPr>
          <p:cNvPr id="127" name="Google Shape;127;p2"/>
          <p:cNvSpPr/>
          <p:nvPr/>
        </p:nvSpPr>
        <p:spPr>
          <a:xfrm>
            <a:off x="609600" y="685800"/>
            <a:ext cx="10668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Mais requisições simultâneas aumentam a latência</a:t>
            </a:r>
            <a:endParaRPr/>
          </a:p>
        </p:txBody>
      </p:sp>
      <p:sp>
        <p:nvSpPr>
          <p:cNvPr id="128" name="Google Shape;128;p2"/>
          <p:cNvSpPr/>
          <p:nvPr/>
        </p:nvSpPr>
        <p:spPr>
          <a:xfrm>
            <a:off x="609600" y="1257300"/>
            <a:ext cx="800100" cy="57150"/>
          </a:xfrm>
          <a:prstGeom prst="rect">
            <a:avLst/>
          </a:prstGeom>
          <a:solidFill>
            <a:srgbClr val="1877C9"/>
          </a:solidFill>
          <a:ln cap="flat" cmpd="sng" w="9525">
            <a:solidFill>
              <a:srgbClr val="1877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2"/>
          <p:cNvSpPr/>
          <p:nvPr/>
        </p:nvSpPr>
        <p:spPr>
          <a:xfrm>
            <a:off x="609600" y="1466850"/>
            <a:ext cx="99060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5B7083"/>
                </a:solidFill>
              </a:rPr>
              <a:t>Cada ponto representa uma carga concorrente com 2, 4, 6 ou 12 requisições.</a:t>
            </a:r>
            <a:endParaRPr b="1" sz="1600"/>
          </a:p>
        </p:txBody>
      </p:sp>
      <p:graphicFrame>
        <p:nvGraphicFramePr>
          <p:cNvPr id="130" name="Google Shape;130;p2"/>
          <p:cNvGraphicFramePr/>
          <p:nvPr/>
        </p:nvGraphicFramePr>
        <p:xfrm>
          <a:off x="609600" y="1885950"/>
          <a:ext cx="5219700" cy="3009900"/>
        </p:xfrm>
        <a:graphic>
          <a:graphicData uri="http://schemas.openxmlformats.org/drawingml/2006/chart">
            <c:chart r:id="rId3"/>
          </a:graphicData>
        </a:graphic>
      </p:graphicFrame>
      <p:graphicFrame>
        <p:nvGraphicFramePr>
          <p:cNvPr id="131" name="Google Shape;131;p2"/>
          <p:cNvGraphicFramePr/>
          <p:nvPr/>
        </p:nvGraphicFramePr>
        <p:xfrm>
          <a:off x="6134100" y="1885950"/>
          <a:ext cx="5067300" cy="3009900"/>
        </p:xfrm>
        <a:graphic>
          <a:graphicData uri="http://schemas.openxmlformats.org/drawingml/2006/chart">
            <c:chart r:id="rId4"/>
          </a:graphicData>
        </a:graphic>
      </p:graphicFrame>
      <p:sp>
        <p:nvSpPr>
          <p:cNvPr id="132" name="Google Shape;132;p2"/>
          <p:cNvSpPr/>
          <p:nvPr/>
        </p:nvSpPr>
        <p:spPr>
          <a:xfrm>
            <a:off x="609600" y="5305425"/>
            <a:ext cx="105727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A GPU permanece mais rápida, mas a fila cresce quando há mais usuários concorrentes.</a:t>
            </a:r>
            <a:endParaRPr sz="1600"/>
          </a:p>
        </p:txBody>
      </p:sp>
      <p:sp>
        <p:nvSpPr>
          <p:cNvPr id="133" name="Google Shape;133;p2"/>
          <p:cNvSpPr/>
          <p:nvPr/>
        </p:nvSpPr>
        <p:spPr>
          <a:xfrm>
            <a:off x="609600" y="5791200"/>
            <a:ext cx="105727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>
                <a:solidFill>
                  <a:srgbClr val="5B7083"/>
                </a:solidFill>
              </a:rPr>
              <a:t>0 falhas observadas em todas as cargas  •  Limitação: uma execução por nível de concorrência.</a:t>
            </a:r>
            <a:endParaRPr b="1"/>
          </a:p>
        </p:txBody>
      </p:sp>
      <p:sp>
        <p:nvSpPr>
          <p:cNvPr id="134" name="Google Shape;134;p2"/>
          <p:cNvSpPr txBox="1"/>
          <p:nvPr/>
        </p:nvSpPr>
        <p:spPr>
          <a:xfrm>
            <a:off x="609600" y="6229350"/>
            <a:ext cx="3000000" cy="34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62">
                <a:solidFill>
                  <a:srgbClr val="5B7083"/>
                </a:solidFill>
              </a:rPr>
              <a:t>Equipe 8 •  Granite 3.1 MoE  •  2/3</a:t>
            </a:r>
            <a:endParaRPr b="1" sz="2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3"/>
          <p:cNvSpPr/>
          <p:nvPr/>
        </p:nvSpPr>
        <p:spPr>
          <a:xfrm>
            <a:off x="609600" y="400050"/>
            <a:ext cx="10287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1877C9"/>
                </a:solidFill>
                <a:latin typeface="Arial"/>
                <a:ea typeface="Arial"/>
                <a:cs typeface="Arial"/>
                <a:sym typeface="Arial"/>
              </a:rPr>
              <a:t>RECURSOS DO SISTEMA</a:t>
            </a:r>
            <a:endParaRPr sz="2100"/>
          </a:p>
        </p:txBody>
      </p:sp>
      <p:sp>
        <p:nvSpPr>
          <p:cNvPr id="141" name="Google Shape;141;p3"/>
          <p:cNvSpPr/>
          <p:nvPr/>
        </p:nvSpPr>
        <p:spPr>
          <a:xfrm>
            <a:off x="609600" y="685800"/>
            <a:ext cx="10668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A concorrência pressiona CPU e memória</a:t>
            </a:r>
            <a:endParaRPr b="1" sz="2400">
              <a:solidFill>
                <a:srgbClr val="102A4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3"/>
          <p:cNvSpPr/>
          <p:nvPr/>
        </p:nvSpPr>
        <p:spPr>
          <a:xfrm>
            <a:off x="609600" y="1257300"/>
            <a:ext cx="800100" cy="57150"/>
          </a:xfrm>
          <a:prstGeom prst="rect">
            <a:avLst/>
          </a:prstGeom>
          <a:solidFill>
            <a:srgbClr val="1877C9"/>
          </a:solidFill>
          <a:ln cap="flat" cmpd="sng" w="9525">
            <a:solidFill>
              <a:srgbClr val="1877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3"/>
          <p:cNvSpPr/>
          <p:nvPr/>
        </p:nvSpPr>
        <p:spPr>
          <a:xfrm>
            <a:off x="609600" y="1466850"/>
            <a:ext cx="95250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75">
                <a:solidFill>
                  <a:srgbClr val="5B7083"/>
                </a:solidFill>
                <a:latin typeface="Arial"/>
                <a:ea typeface="Arial"/>
                <a:cs typeface="Arial"/>
                <a:sym typeface="Arial"/>
              </a:rPr>
              <a:t>Picos observados no contêiner do Ollama durante os testes concorrentes.</a:t>
            </a:r>
            <a:endParaRPr/>
          </a:p>
        </p:txBody>
      </p:sp>
      <p:graphicFrame>
        <p:nvGraphicFramePr>
          <p:cNvPr id="144" name="Google Shape;144;p3"/>
          <p:cNvGraphicFramePr/>
          <p:nvPr/>
        </p:nvGraphicFramePr>
        <p:xfrm>
          <a:off x="609600" y="1885950"/>
          <a:ext cx="5219700" cy="3009900"/>
        </p:xfrm>
        <a:graphic>
          <a:graphicData uri="http://schemas.openxmlformats.org/drawingml/2006/chart">
            <c:chart r:id="rId3"/>
          </a:graphicData>
        </a:graphic>
      </p:graphicFrame>
      <p:graphicFrame>
        <p:nvGraphicFramePr>
          <p:cNvPr id="145" name="Google Shape;145;p3"/>
          <p:cNvGraphicFramePr/>
          <p:nvPr/>
        </p:nvGraphicFramePr>
        <p:xfrm>
          <a:off x="6134100" y="1885950"/>
          <a:ext cx="5067300" cy="3009900"/>
        </p:xfrm>
        <a:graphic>
          <a:graphicData uri="http://schemas.openxmlformats.org/drawingml/2006/chart">
            <c:chart r:id="rId4"/>
          </a:graphicData>
        </a:graphic>
      </p:graphicFrame>
      <p:sp>
        <p:nvSpPr>
          <p:cNvPr id="146" name="Google Shape;146;p3"/>
          <p:cNvSpPr/>
          <p:nvPr/>
        </p:nvSpPr>
        <p:spPr>
          <a:xfrm>
            <a:off x="609600" y="5305425"/>
            <a:ext cx="105727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87">
                <a:solidFill>
                  <a:srgbClr val="138A5B"/>
                </a:solidFill>
                <a:latin typeface="Arial"/>
                <a:ea typeface="Arial"/>
                <a:cs typeface="Arial"/>
                <a:sym typeface="Arial"/>
              </a:rPr>
              <a:t>GPU observada: RTX 3060 a 60% de uso, com 3.375 MiB de VRAM ocupada.</a:t>
            </a:r>
            <a:endParaRPr/>
          </a:p>
        </p:txBody>
      </p:sp>
      <p:sp>
        <p:nvSpPr>
          <p:cNvPr id="147" name="Google Shape;147;p3"/>
          <p:cNvSpPr/>
          <p:nvPr/>
        </p:nvSpPr>
        <p:spPr>
          <a:xfrm>
            <a:off x="609600" y="5791200"/>
            <a:ext cx="1057275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459">
                <a:solidFill>
                  <a:srgbClr val="172B4D"/>
                </a:solidFill>
              </a:rPr>
              <a:t>Conclusão: neste ambiente, a GPU oferece a melhor responsividade; sob concorrência, porém, CPU de suporte, memória e filas ainda limitam o desempenho.</a:t>
            </a:r>
            <a:endParaRPr b="1" sz="1700"/>
          </a:p>
        </p:txBody>
      </p:sp>
      <p:sp>
        <p:nvSpPr>
          <p:cNvPr id="148" name="Google Shape;148;p3"/>
          <p:cNvSpPr txBox="1"/>
          <p:nvPr/>
        </p:nvSpPr>
        <p:spPr>
          <a:xfrm>
            <a:off x="609600" y="6391275"/>
            <a:ext cx="3000000" cy="34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62">
                <a:solidFill>
                  <a:srgbClr val="5B7083"/>
                </a:solidFill>
              </a:rPr>
              <a:t>Equipe 8 •  Granite 3.1 MoE  •  3/3</a:t>
            </a:r>
            <a:endParaRPr b="1" sz="2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Google Shape;153;g3fb6e6f24db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935300" y="0"/>
            <a:ext cx="14062583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2026-09-15T11:56:13Z</dcterms:created>
  <dc:creator>Walnut Exporter</dc:creator>
</cp:coreProperties>
</file>